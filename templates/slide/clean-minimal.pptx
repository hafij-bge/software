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3"/>
          <p:cNvSpPr/>
          <p:nvPr/>
        </p:nvSpPr>
        <p:spPr>
          <a:xfrm>
            <a:off x="8351215" y="-1097280"/>
            <a:ext cx="4937760" cy="4937760"/>
          </a:xfrm>
          <a:prstGeom prst="ellipse">
            <a:avLst/>
          </a:prstGeom>
          <a:solidFill>
            <a:srgbClr val="93C5FD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4"/>
          <p:cNvSpPr/>
          <p:nvPr/>
        </p:nvSpPr>
        <p:spPr>
          <a:xfrm>
            <a:off x="9814255" y="4206240"/>
            <a:ext cx="3291840" cy="3291840"/>
          </a:xfrm>
          <a:prstGeom prst="ellipse">
            <a:avLst/>
          </a:prstGeom>
          <a:solidFill>
            <a:srgbClr val="2563EB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914400" y="1828800"/>
            <a:ext cx="54864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2563EB"/>
                </a:solidFill>
                <a:latin typeface="Inter"/>
              </a:rPr>
              <a:t>CRAFT SUITE · 2026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914400" y="2240280"/>
            <a:ext cx="7863840" cy="20116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111827"/>
                </a:solidFill>
                <a:latin typeface="Inter"/>
              </a:rPr>
              <a:t>Clean minimal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914400" y="4160520"/>
            <a:ext cx="6858000" cy="8229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200" dirty="0">
                <a:solidFill>
                  <a:srgbClr val="6B7280"/>
                </a:solidFill>
                <a:latin typeface="Inter"/>
              </a:rPr>
              <a:t>A short subtitle that says what this presentation is about</a:t>
            </a:r>
          </a:p>
        </p:txBody>
      </p:sp>
      <p:sp>
        <p:nvSpPr>
          <p:cNvPr id="8" name="Shape 8"/>
          <p:cNvSpPr/>
          <p:nvPr/>
        </p:nvSpPr>
        <p:spPr>
          <a:xfrm>
            <a:off x="914400" y="5257800"/>
            <a:ext cx="128016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9"/>
          <p:cNvSpPr txBox="1"/>
          <p:nvPr/>
        </p:nvSpPr>
        <p:spPr>
          <a:xfrm>
            <a:off x="914400" y="5440680"/>
            <a:ext cx="548640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Inter"/>
              </a:rPr>
              <a:t>Presenter name ·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2563EB"/>
                </a:solidFill>
                <a:latin typeface="Inter"/>
              </a:rPr>
              <a:t>AGENDA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822960" y="960120"/>
            <a:ext cx="10058400" cy="914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111827"/>
                </a:solidFill>
                <a:latin typeface="Inter"/>
              </a:rPr>
              <a:t>What we'll cover</a:t>
            </a:r>
          </a:p>
        </p:txBody>
      </p:sp>
      <p:sp>
        <p:nvSpPr>
          <p:cNvPr id="4" name="Shape 4"/>
          <p:cNvSpPr/>
          <p:nvPr/>
        </p:nvSpPr>
        <p:spPr>
          <a:xfrm>
            <a:off x="822960" y="2240280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822960" y="224028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645920" y="2313432"/>
            <a:ext cx="822960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Inter"/>
              </a:rPr>
              <a:t>Where we are today</a:t>
            </a:r>
          </a:p>
        </p:txBody>
      </p:sp>
      <p:sp>
        <p:nvSpPr>
          <p:cNvPr id="7" name="Shape 7"/>
          <p:cNvSpPr/>
          <p:nvPr/>
        </p:nvSpPr>
        <p:spPr>
          <a:xfrm>
            <a:off x="822960" y="3026664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8"/>
          <p:cNvSpPr txBox="1"/>
          <p:nvPr/>
        </p:nvSpPr>
        <p:spPr>
          <a:xfrm>
            <a:off x="822960" y="3026664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645920" y="3099816"/>
            <a:ext cx="822960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Inter"/>
              </a:rPr>
              <a:t>The opportunity</a:t>
            </a:r>
          </a:p>
        </p:txBody>
      </p:sp>
      <p:sp>
        <p:nvSpPr>
          <p:cNvPr id="10" name="Shape 10"/>
          <p:cNvSpPr/>
          <p:nvPr/>
        </p:nvSpPr>
        <p:spPr>
          <a:xfrm>
            <a:off x="822960" y="3813048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11"/>
          <p:cNvSpPr txBox="1"/>
          <p:nvPr/>
        </p:nvSpPr>
        <p:spPr>
          <a:xfrm>
            <a:off x="822960" y="381304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645920" y="3886200"/>
            <a:ext cx="822960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Inter"/>
              </a:rPr>
              <a:t>Our plan</a:t>
            </a:r>
          </a:p>
        </p:txBody>
      </p:sp>
      <p:sp>
        <p:nvSpPr>
          <p:cNvPr id="13" name="Shape 13"/>
          <p:cNvSpPr/>
          <p:nvPr/>
        </p:nvSpPr>
        <p:spPr>
          <a:xfrm>
            <a:off x="822960" y="4599432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4"/>
          <p:cNvSpPr txBox="1"/>
          <p:nvPr/>
        </p:nvSpPr>
        <p:spPr>
          <a:xfrm>
            <a:off x="822960" y="459943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645920" y="4672584"/>
            <a:ext cx="822960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Inter"/>
              </a:rPr>
              <a:t>Timeline and budget</a:t>
            </a:r>
          </a:p>
        </p:txBody>
      </p:sp>
      <p:sp>
        <p:nvSpPr>
          <p:cNvPr id="16" name="Shape 16"/>
          <p:cNvSpPr/>
          <p:nvPr/>
        </p:nvSpPr>
        <p:spPr>
          <a:xfrm>
            <a:off x="822960" y="5385816"/>
            <a:ext cx="566928" cy="56692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7"/>
          <p:cNvSpPr txBox="1"/>
          <p:nvPr/>
        </p:nvSpPr>
        <p:spPr>
          <a:xfrm>
            <a:off x="822960" y="538581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645920" y="5458968"/>
            <a:ext cx="822960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Inter"/>
              </a:rPr>
              <a:t>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162495" y="0"/>
            <a:ext cx="5029200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8000" b="1" dirty="0">
                <a:solidFill>
                  <a:srgbClr val="FFFFFF"/>
                </a:solidFill>
                <a:latin typeface="Inter"/>
              </a:rPr>
              <a:t>01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822960" y="3246120"/>
            <a:ext cx="8229600" cy="12801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Inter"/>
              </a:rPr>
              <a:t>The opportunity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22960" y="4343400"/>
            <a:ext cx="7315200" cy="7315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/>
              </a:rPr>
              <a:t>Why now is the right moment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2563EB"/>
                </a:solidFill>
                <a:latin typeface="Inter"/>
              </a:rPr>
              <a:t>TODAY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822960" y="960120"/>
            <a:ext cx="6766560" cy="914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11827"/>
                </a:solidFill>
                <a:latin typeface="Inter"/>
              </a:rPr>
              <a:t>Three things we know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822960" y="2103120"/>
            <a:ext cx="6309360" cy="38404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 marL="285750" indent="-285750">
              <a:spcAft>
                <a:spcPts val="1400"/>
              </a:spcAft>
              <a:buClr>
                <a:srgbClr val="2563EB"/>
              </a:buClr>
              <a:buFont typeface="Arial"/>
              <a:buChar char="•"/>
            </a:pPr>
            <a:r>
              <a:rPr lang="en-US" sz="2000" b="1" dirty="0">
                <a:solidFill>
                  <a:srgbClr val="111827"/>
                </a:solidFill>
                <a:latin typeface="Inter"/>
              </a:rPr>
              <a:t>Customers want speed. </a:t>
            </a:r>
            <a:r>
              <a:rPr lang="en-US" sz="2000" dirty="0">
                <a:solidFill>
                  <a:srgbClr val="6B7280"/>
                </a:solidFill>
                <a:latin typeface="Inter"/>
              </a:rPr>
              <a:t>Replies within an hour double renewals.</a:t>
            </a:r>
          </a:p>
          <a:p>
            <a:pPr algn="l" marL="285750" indent="-285750">
              <a:spcAft>
                <a:spcPts val="1400"/>
              </a:spcAft>
              <a:buClr>
                <a:srgbClr val="2563EB"/>
              </a:buClr>
              <a:buFont typeface="Arial"/>
              <a:buChar char="•"/>
            </a:pPr>
            <a:r>
              <a:rPr lang="en-US" sz="2000" b="1" dirty="0">
                <a:solidFill>
                  <a:srgbClr val="111827"/>
                </a:solidFill>
                <a:latin typeface="Inter"/>
              </a:rPr>
              <a:t>Costs are flat. </a:t>
            </a:r>
            <a:r>
              <a:rPr lang="en-US" sz="2000" dirty="0">
                <a:solidFill>
                  <a:srgbClr val="6B7280"/>
                </a:solidFill>
                <a:latin typeface="Inter"/>
              </a:rPr>
              <a:t>Growth no longer needs new offices.</a:t>
            </a:r>
          </a:p>
          <a:p>
            <a:pPr algn="l" marL="285750" indent="-285750">
              <a:spcAft>
                <a:spcPts val="1400"/>
              </a:spcAft>
              <a:buClr>
                <a:srgbClr val="2563EB"/>
              </a:buClr>
              <a:buFont typeface="Arial"/>
              <a:buChar char="•"/>
            </a:pPr>
            <a:r>
              <a:rPr lang="en-US" sz="2000" b="1" dirty="0">
                <a:solidFill>
                  <a:srgbClr val="111827"/>
                </a:solidFill>
                <a:latin typeface="Inter"/>
              </a:rPr>
              <a:t>Pilots work. </a:t>
            </a:r>
            <a:r>
              <a:rPr lang="en-US" sz="2000" dirty="0">
                <a:solidFill>
                  <a:srgbClr val="6B7280"/>
                </a:solidFill>
                <a:latin typeface="Inter"/>
              </a:rPr>
              <a:t>Four of six became permanent services.</a:t>
            </a:r>
          </a:p>
        </p:txBody>
      </p:sp>
      <p:sp>
        <p:nvSpPr>
          <p:cNvPr id="5" name="Shape 5"/>
          <p:cNvSpPr/>
          <p:nvPr/>
        </p:nvSpPr>
        <p:spPr>
          <a:xfrm>
            <a:off x="7772400" y="1097280"/>
            <a:ext cx="3566160" cy="475488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8092440" y="1463040"/>
            <a:ext cx="292608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5400" b="1" dirty="0">
                <a:solidFill>
                  <a:srgbClr val="2563EB"/>
                </a:solidFill>
                <a:latin typeface="Inter"/>
              </a:rPr>
              <a:t>+18%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092440" y="2514600"/>
            <a:ext cx="2926080" cy="914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Inter"/>
              </a:rPr>
              <a:t>revenue growth this year</a:t>
            </a:r>
          </a:p>
        </p:txBody>
      </p:sp>
      <p:sp>
        <p:nvSpPr>
          <p:cNvPr id="8" name="Shape 8"/>
          <p:cNvSpPr/>
          <p:nvPr/>
        </p:nvSpPr>
        <p:spPr>
          <a:xfrm>
            <a:off x="8092440" y="3520440"/>
            <a:ext cx="2926080" cy="27432"/>
          </a:xfrm>
          <a:prstGeom prst="rect">
            <a:avLst/>
          </a:prstGeom>
          <a:solidFill>
            <a:srgbClr val="6B7280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9"/>
          <p:cNvSpPr txBox="1"/>
          <p:nvPr/>
        </p:nvSpPr>
        <p:spPr>
          <a:xfrm>
            <a:off x="8092440" y="3703320"/>
            <a:ext cx="292608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4000" b="1" dirty="0">
                <a:solidFill>
                  <a:srgbClr val="111827"/>
                </a:solidFill>
                <a:latin typeface="Inter"/>
              </a:rPr>
              <a:t>1,240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8092440" y="4526280"/>
            <a:ext cx="2926080" cy="914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Inter"/>
              </a:rPr>
              <a:t>active customers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2563EB"/>
                </a:solidFill>
                <a:latin typeface="Inter"/>
              </a:rPr>
              <a:t>RESULTS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822960" y="960120"/>
            <a:ext cx="10058400" cy="914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11827"/>
                </a:solidFill>
                <a:latin typeface="Inter"/>
              </a:rPr>
              <a:t>Growth by quarter</a:t>
            </a:r>
          </a:p>
        </p:txBody>
      </p:sp>
      <p:sp>
        <p:nvSpPr>
          <p:cNvPr id="4" name="Shape 4"/>
          <p:cNvSpPr/>
          <p:nvPr/>
        </p:nvSpPr>
        <p:spPr>
          <a:xfrm>
            <a:off x="1280160" y="4315968"/>
            <a:ext cx="1371600" cy="1536192"/>
          </a:xfrm>
          <a:prstGeom prst="roundRect">
            <a:avLst>
              <a:gd name="adj" fmla="val 8000"/>
            </a:avLst>
          </a:prstGeom>
          <a:solidFill>
            <a:srgbClr val="93C5F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1097280" y="3813048"/>
            <a:ext cx="173736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600" b="1" dirty="0">
                <a:solidFill>
                  <a:srgbClr val="111827"/>
                </a:solidFill>
                <a:latin typeface="Inter"/>
              </a:rPr>
              <a:t>42k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97280" y="5925312"/>
            <a:ext cx="1737360" cy="4114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500" dirty="0">
                <a:solidFill>
                  <a:srgbClr val="6B7280"/>
                </a:solidFill>
                <a:latin typeface="Inter"/>
              </a:rPr>
              <a:t>Q1</a:t>
            </a:r>
          </a:p>
        </p:txBody>
      </p:sp>
      <p:sp>
        <p:nvSpPr>
          <p:cNvPr id="7" name="Shape 7"/>
          <p:cNvSpPr/>
          <p:nvPr/>
        </p:nvSpPr>
        <p:spPr>
          <a:xfrm>
            <a:off x="3657600" y="3840480"/>
            <a:ext cx="1371600" cy="2011680"/>
          </a:xfrm>
          <a:prstGeom prst="roundRect">
            <a:avLst>
              <a:gd name="adj" fmla="val 8000"/>
            </a:avLst>
          </a:prstGeom>
          <a:solidFill>
            <a:srgbClr val="93C5F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8"/>
          <p:cNvSpPr txBox="1"/>
          <p:nvPr/>
        </p:nvSpPr>
        <p:spPr>
          <a:xfrm>
            <a:off x="3474720" y="3337560"/>
            <a:ext cx="173736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600" b="1" dirty="0">
                <a:solidFill>
                  <a:srgbClr val="111827"/>
                </a:solidFill>
                <a:latin typeface="Inter"/>
              </a:rPr>
              <a:t>55k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3474720" y="5925312"/>
            <a:ext cx="1737360" cy="4114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500" dirty="0">
                <a:solidFill>
                  <a:srgbClr val="6B7280"/>
                </a:solidFill>
                <a:latin typeface="Inter"/>
              </a:rPr>
              <a:t>Q2</a:t>
            </a:r>
          </a:p>
        </p:txBody>
      </p:sp>
      <p:sp>
        <p:nvSpPr>
          <p:cNvPr id="10" name="Shape 10"/>
          <p:cNvSpPr/>
          <p:nvPr/>
        </p:nvSpPr>
        <p:spPr>
          <a:xfrm>
            <a:off x="6035040" y="3364992"/>
            <a:ext cx="1371600" cy="2487168"/>
          </a:xfrm>
          <a:prstGeom prst="roundRect">
            <a:avLst>
              <a:gd name="adj" fmla="val 8000"/>
            </a:avLst>
          </a:prstGeom>
          <a:solidFill>
            <a:srgbClr val="93C5F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11"/>
          <p:cNvSpPr txBox="1"/>
          <p:nvPr/>
        </p:nvSpPr>
        <p:spPr>
          <a:xfrm>
            <a:off x="5852159" y="2862072"/>
            <a:ext cx="173736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600" b="1" dirty="0">
                <a:solidFill>
                  <a:srgbClr val="111827"/>
                </a:solidFill>
                <a:latin typeface="Inter"/>
              </a:rPr>
              <a:t>68k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5852159" y="5925312"/>
            <a:ext cx="1737360" cy="4114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500" dirty="0">
                <a:solidFill>
                  <a:srgbClr val="6B7280"/>
                </a:solidFill>
                <a:latin typeface="Inter"/>
              </a:rPr>
              <a:t>Q3</a:t>
            </a:r>
          </a:p>
        </p:txBody>
      </p:sp>
      <p:sp>
        <p:nvSpPr>
          <p:cNvPr id="13" name="Shape 13"/>
          <p:cNvSpPr/>
          <p:nvPr/>
        </p:nvSpPr>
        <p:spPr>
          <a:xfrm>
            <a:off x="8412480" y="2706624"/>
            <a:ext cx="1371600" cy="3145536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4"/>
          <p:cNvSpPr txBox="1"/>
          <p:nvPr/>
        </p:nvSpPr>
        <p:spPr>
          <a:xfrm>
            <a:off x="8229600" y="2203704"/>
            <a:ext cx="173736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600" b="1" dirty="0">
                <a:solidFill>
                  <a:srgbClr val="111827"/>
                </a:solidFill>
                <a:latin typeface="Inter"/>
              </a:rPr>
              <a:t>86k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8229600" y="5925312"/>
            <a:ext cx="1737360" cy="4114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500" dirty="0">
                <a:solidFill>
                  <a:srgbClr val="6B7280"/>
                </a:solidFill>
                <a:latin typeface="Inter"/>
              </a:rPr>
              <a:t>Q4</a:t>
            </a:r>
          </a:p>
        </p:txBody>
      </p:sp>
      <p:sp>
        <p:nvSpPr>
          <p:cNvPr id="16" name="Shape 16"/>
          <p:cNvSpPr/>
          <p:nvPr/>
        </p:nvSpPr>
        <p:spPr>
          <a:xfrm>
            <a:off x="1005840" y="5852160"/>
            <a:ext cx="9692640" cy="27432"/>
          </a:xfrm>
          <a:prstGeom prst="rect">
            <a:avLst/>
          </a:prstGeom>
          <a:solidFill>
            <a:srgbClr val="6B7280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2563EB"/>
                </a:solidFill>
                <a:latin typeface="Inter"/>
              </a:rPr>
              <a:t>PLAN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822960" y="960120"/>
            <a:ext cx="10058400" cy="914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11827"/>
                </a:solidFill>
                <a:latin typeface="Inter"/>
              </a:rPr>
              <a:t>Timeline</a:t>
            </a:r>
          </a:p>
        </p:txBody>
      </p:sp>
      <p:sp>
        <p:nvSpPr>
          <p:cNvPr id="4" name="Shape 4"/>
          <p:cNvSpPr/>
          <p:nvPr/>
        </p:nvSpPr>
        <p:spPr>
          <a:xfrm>
            <a:off x="1097280" y="3291840"/>
            <a:ext cx="9966960" cy="54864"/>
          </a:xfrm>
          <a:prstGeom prst="rect">
            <a:avLst/>
          </a:prstGeom>
          <a:solidFill>
            <a:srgbClr val="6B7280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1097280" y="309067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731519" y="2286000"/>
            <a:ext cx="237744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2000" b="1" dirty="0">
                <a:solidFill>
                  <a:srgbClr val="2563EB"/>
                </a:solidFill>
                <a:latin typeface="Inter"/>
              </a:rPr>
              <a:t>Nov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31519" y="3794760"/>
            <a:ext cx="256032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nter"/>
              </a:rPr>
              <a:t>Agree terms</a:t>
            </a:r>
          </a:p>
        </p:txBody>
      </p:sp>
      <p:sp>
        <p:nvSpPr>
          <p:cNvPr id="8" name="Shape 8"/>
          <p:cNvSpPr/>
          <p:nvPr/>
        </p:nvSpPr>
        <p:spPr>
          <a:xfrm>
            <a:off x="4206240" y="309067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9"/>
          <p:cNvSpPr txBox="1"/>
          <p:nvPr/>
        </p:nvSpPr>
        <p:spPr>
          <a:xfrm>
            <a:off x="3840479" y="2286000"/>
            <a:ext cx="237744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2000" b="1" dirty="0">
                <a:solidFill>
                  <a:srgbClr val="2563EB"/>
                </a:solidFill>
                <a:latin typeface="Inter"/>
              </a:rPr>
              <a:t>Jan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3840479" y="3794760"/>
            <a:ext cx="256032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nter"/>
              </a:rPr>
              <a:t>Build</a:t>
            </a:r>
          </a:p>
        </p:txBody>
      </p:sp>
      <p:sp>
        <p:nvSpPr>
          <p:cNvPr id="11" name="Shape 11"/>
          <p:cNvSpPr/>
          <p:nvPr/>
        </p:nvSpPr>
        <p:spPr>
          <a:xfrm>
            <a:off x="7315200" y="309067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6949440" y="2286000"/>
            <a:ext cx="237744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2000" b="1" dirty="0">
                <a:solidFill>
                  <a:srgbClr val="2563EB"/>
                </a:solidFill>
                <a:latin typeface="Inter"/>
              </a:rPr>
              <a:t>Apr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949440" y="3794760"/>
            <a:ext cx="256032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nter"/>
              </a:rPr>
              <a:t>Launch</a:t>
            </a:r>
          </a:p>
        </p:txBody>
      </p:sp>
      <p:sp>
        <p:nvSpPr>
          <p:cNvPr id="14" name="Shape 14"/>
          <p:cNvSpPr/>
          <p:nvPr/>
        </p:nvSpPr>
        <p:spPr>
          <a:xfrm>
            <a:off x="10424159" y="309067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5"/>
          <p:cNvSpPr txBox="1"/>
          <p:nvPr/>
        </p:nvSpPr>
        <p:spPr>
          <a:xfrm>
            <a:off x="10058399" y="2286000"/>
            <a:ext cx="237744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2000" b="1" dirty="0">
                <a:solidFill>
                  <a:srgbClr val="2563EB"/>
                </a:solidFill>
                <a:latin typeface="Inter"/>
              </a:rPr>
              <a:t>Sep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0058399" y="3794760"/>
            <a:ext cx="256032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Inter"/>
              </a:rPr>
              <a:t>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95000"/>
              </a:lnSpc>
              <a:buNone/>
            </a:pPr>
            <a:r>
              <a:rPr lang="en-US" sz="6400" b="1" dirty="0">
                <a:solidFill>
                  <a:srgbClr val="111827"/>
                </a:solidFill>
                <a:latin typeface="Inter"/>
              </a:rPr>
              <a:t>Thank you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822960" y="3520440"/>
            <a:ext cx="10515600" cy="7315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114999"/>
              </a:lnSpc>
              <a:buNone/>
            </a:pPr>
            <a:r>
              <a:rPr lang="en-US" sz="2200" dirty="0">
                <a:solidFill>
                  <a:srgbClr val="6B7280"/>
                </a:solidFill>
                <a:latin typeface="Inter"/>
              </a:rPr>
              <a:t>Questions? hello@example.com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ean minimal">
  <a:themeElements>
    <a:clrScheme name="Clean minimal">
      <a:dk1>
        <a:srgbClr val="111827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93C5FD"/>
      </a:accent2>
      <a:accent3>
        <a:srgbClr val="6B7280"/>
      </a:accent3>
      <a:accent4>
        <a:srgbClr val="10B981"/>
      </a:accent4>
      <a:accent5>
        <a:srgbClr val="8B5CF6"/>
      </a:accent5>
      <a:accent6>
        <a:srgbClr val="EF4444"/>
      </a:accent6>
      <a:hlink>
        <a:srgbClr val="2563EB"/>
      </a:hlink>
      <a:folHlink>
        <a:srgbClr val="93C5FD"/>
      </a:folHlink>
    </a:clrScheme>
    <a:fontScheme name="Clean minimal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raf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Craft Suite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Clean minimal</dc:title>
  <dc:subject/>
  <dc:creator>Craft Suite</dc:creator>
  <cp:keywords>template</cp:keywords>
  <dcterms:created xsi:type="dcterms:W3CDTF">2026-01-01T00:00:00Z</dcterms:created>
</cp:coreProperties>
</file>