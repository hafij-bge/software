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8351215" y="-1097280"/>
            <a:ext cx="4937760" cy="4937760"/>
          </a:xfrm>
          <a:prstGeom prst="ellipse">
            <a:avLst/>
          </a:prstGeom>
          <a:solidFill>
            <a:srgbClr val="0EA5E9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9814255" y="4206240"/>
            <a:ext cx="3291840" cy="3291840"/>
          </a:xfrm>
          <a:prstGeom prst="ellipse">
            <a:avLst/>
          </a:prstGeom>
          <a:solidFill>
            <a:srgbClr val="1D4ED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914400" y="182880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1D4ED8"/>
                </a:solidFill>
                <a:latin typeface="Source Serif 4"/>
              </a:rPr>
              <a:t>CRAFT SUITE ·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2240280"/>
            <a:ext cx="7863840" cy="2011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0F172A"/>
                </a:solidFill>
                <a:latin typeface="Source Sans 3"/>
              </a:rPr>
              <a:t>Research talk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4160520"/>
            <a:ext cx="685800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475569"/>
                </a:solidFill>
                <a:latin typeface="Source Serif 4"/>
              </a:rPr>
              <a:t>A short subtitle that says what this presentation is about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5257800"/>
            <a:ext cx="12801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914400" y="544068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Source Serif 4"/>
              </a:rPr>
              <a:t>Presenter name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1D4ED8"/>
                </a:solidFill>
                <a:latin typeface="Source Serif 4"/>
              </a:rPr>
              <a:t>AGENDA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Source Sans 3"/>
              </a:rPr>
              <a:t>What we'll cover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645920" y="2313432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Source Serif 4"/>
              </a:rPr>
              <a:t>Where we are today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026664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822960" y="3026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645920" y="3099816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Source Serif 4"/>
              </a:rPr>
              <a:t>The opportunity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3813048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22960" y="3813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45920" y="3886200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Source Serif 4"/>
              </a:rPr>
              <a:t>Our plan</a:t>
            </a:r>
          </a:p>
        </p:txBody>
      </p:sp>
      <p:sp>
        <p:nvSpPr>
          <p:cNvPr id="13" name="Shape 13"/>
          <p:cNvSpPr/>
          <p:nvPr/>
        </p:nvSpPr>
        <p:spPr>
          <a:xfrm>
            <a:off x="822960" y="4599432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" y="45994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645920" y="4672584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Source Serif 4"/>
              </a:rPr>
              <a:t>Timeline and budget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822960" y="5385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645920" y="5458968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Source Serif 4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62495" y="0"/>
            <a:ext cx="50292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8000" b="1" dirty="0">
                <a:solidFill>
                  <a:srgbClr val="FFFFFF"/>
                </a:solidFill>
                <a:latin typeface="Source Sans 3"/>
              </a:rPr>
              <a:t>01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246120"/>
            <a:ext cx="8229600" cy="12801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ource Sans 3"/>
              </a:rPr>
              <a:t>The opportunity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343400"/>
            <a:ext cx="73152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erif 4"/>
              </a:rPr>
              <a:t>Why now is the right moment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1D4ED8"/>
                </a:solidFill>
                <a:latin typeface="Source Serif 4"/>
              </a:rPr>
              <a:t>TODAY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676656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Source Sans 3"/>
              </a:rPr>
              <a:t>Three things we know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2103120"/>
            <a:ext cx="6309360" cy="3840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 marL="285750" indent="-285750"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Source Serif 4"/>
              </a:rPr>
              <a:t>Customers want speed. </a:t>
            </a:r>
            <a:r>
              <a:rPr lang="en-US" sz="2000" dirty="0">
                <a:solidFill>
                  <a:srgbClr val="475569"/>
                </a:solidFill>
                <a:latin typeface="Source Serif 4"/>
              </a:rPr>
              <a:t>Replies within an hour double renewals.</a:t>
            </a:r>
          </a:p>
          <a:p>
            <a:pPr algn="l" marL="285750" indent="-285750"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Source Serif 4"/>
              </a:rPr>
              <a:t>Costs are flat. </a:t>
            </a:r>
            <a:r>
              <a:rPr lang="en-US" sz="2000" dirty="0">
                <a:solidFill>
                  <a:srgbClr val="475569"/>
                </a:solidFill>
                <a:latin typeface="Source Serif 4"/>
              </a:rPr>
              <a:t>Growth no longer needs new offices.</a:t>
            </a:r>
          </a:p>
          <a:p>
            <a:pPr algn="l" marL="285750" indent="-285750"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Source Serif 4"/>
              </a:rPr>
              <a:t>Pilots work. </a:t>
            </a:r>
            <a:r>
              <a:rPr lang="en-US" sz="2000" dirty="0">
                <a:solidFill>
                  <a:srgbClr val="475569"/>
                </a:solidFill>
                <a:latin typeface="Source Serif 4"/>
              </a:rPr>
              <a:t>Four of six became permanent services.</a:t>
            </a:r>
          </a:p>
        </p:txBody>
      </p:sp>
      <p:sp>
        <p:nvSpPr>
          <p:cNvPr id="5" name="Shape 5"/>
          <p:cNvSpPr/>
          <p:nvPr/>
        </p:nvSpPr>
        <p:spPr>
          <a:xfrm>
            <a:off x="7772400" y="10972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092440" y="146304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5400" b="1" dirty="0">
                <a:solidFill>
                  <a:srgbClr val="1D4ED8"/>
                </a:solidFill>
                <a:latin typeface="Source Sans 3"/>
              </a:rPr>
              <a:t>+18%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92440" y="251460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Source Serif 4"/>
              </a:rPr>
              <a:t>revenue growth this year</a:t>
            </a:r>
          </a:p>
        </p:txBody>
      </p:sp>
      <p:sp>
        <p:nvSpPr>
          <p:cNvPr id="8" name="Shape 8"/>
          <p:cNvSpPr/>
          <p:nvPr/>
        </p:nvSpPr>
        <p:spPr>
          <a:xfrm>
            <a:off x="8092440" y="3520440"/>
            <a:ext cx="2926080" cy="27432"/>
          </a:xfrm>
          <a:prstGeom prst="rect">
            <a:avLst/>
          </a:prstGeom>
          <a:solidFill>
            <a:srgbClr val="475569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092440" y="370332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4000" b="1" dirty="0">
                <a:solidFill>
                  <a:srgbClr val="0F172A"/>
                </a:solidFill>
                <a:latin typeface="Source Sans 3"/>
              </a:rPr>
              <a:t>1,240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92440" y="452628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Source Serif 4"/>
              </a:rPr>
              <a:t>active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1D4ED8"/>
                </a:solidFill>
                <a:latin typeface="Source Serif 4"/>
              </a:rPr>
              <a:t>RESULTS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Source Sans 3"/>
              </a:rPr>
              <a:t>Growth by quarter</a:t>
            </a:r>
          </a:p>
        </p:txBody>
      </p:sp>
      <p:sp>
        <p:nvSpPr>
          <p:cNvPr id="4" name="Shape 4"/>
          <p:cNvSpPr/>
          <p:nvPr/>
        </p:nvSpPr>
        <p:spPr>
          <a:xfrm>
            <a:off x="1280160" y="4315968"/>
            <a:ext cx="1371600" cy="1536192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97280" y="3813048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Source Serif 4"/>
              </a:rPr>
              <a:t>42k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728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475569"/>
                </a:solidFill>
                <a:latin typeface="Source Serif 4"/>
              </a:rPr>
              <a:t>Q1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840480"/>
            <a:ext cx="1371600" cy="201168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3474720" y="3337560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Source Serif 4"/>
              </a:rPr>
              <a:t>55k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47472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475569"/>
                </a:solidFill>
                <a:latin typeface="Source Serif 4"/>
              </a:rPr>
              <a:t>Q2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0" y="3364992"/>
            <a:ext cx="1371600" cy="248716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5852159" y="2862072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Source Serif 4"/>
              </a:rPr>
              <a:t>68k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52159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475569"/>
                </a:solidFill>
                <a:latin typeface="Source Serif 4"/>
              </a:rPr>
              <a:t>Q3</a:t>
            </a:r>
          </a:p>
        </p:txBody>
      </p:sp>
      <p:sp>
        <p:nvSpPr>
          <p:cNvPr id="13" name="Shape 13"/>
          <p:cNvSpPr/>
          <p:nvPr/>
        </p:nvSpPr>
        <p:spPr>
          <a:xfrm>
            <a:off x="8412480" y="2706624"/>
            <a:ext cx="1371600" cy="3145536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0" y="2203704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Source Serif 4"/>
              </a:rPr>
              <a:t>86k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475569"/>
                </a:solidFill>
                <a:latin typeface="Source Serif 4"/>
              </a:rPr>
              <a:t>Q4</a:t>
            </a:r>
          </a:p>
        </p:txBody>
      </p:sp>
      <p:sp>
        <p:nvSpPr>
          <p:cNvPr id="16" name="Shape 16"/>
          <p:cNvSpPr/>
          <p:nvPr/>
        </p:nvSpPr>
        <p:spPr>
          <a:xfrm>
            <a:off x="1005840" y="5852160"/>
            <a:ext cx="9692640" cy="27432"/>
          </a:xfrm>
          <a:prstGeom prst="rect">
            <a:avLst/>
          </a:prstGeom>
          <a:solidFill>
            <a:srgbClr val="475569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1D4ED8"/>
                </a:solidFill>
                <a:latin typeface="Source Serif 4"/>
              </a:rPr>
              <a:t>PLAN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Source Sans 3"/>
              </a:rPr>
              <a:t>Timeline</a:t>
            </a:r>
          </a:p>
        </p:txBody>
      </p:sp>
      <p:sp>
        <p:nvSpPr>
          <p:cNvPr id="4" name="Shape 4"/>
          <p:cNvSpPr/>
          <p:nvPr/>
        </p:nvSpPr>
        <p:spPr>
          <a:xfrm>
            <a:off x="1097280" y="3291840"/>
            <a:ext cx="9966960" cy="54864"/>
          </a:xfrm>
          <a:prstGeom prst="rect">
            <a:avLst/>
          </a:prstGeom>
          <a:solidFill>
            <a:srgbClr val="475569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097280" y="309067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1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1D4ED8"/>
                </a:solidFill>
                <a:latin typeface="Source Sans 3"/>
              </a:rPr>
              <a:t>Nov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1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Source Serif 4"/>
              </a:rPr>
              <a:t>Agree terms</a:t>
            </a:r>
          </a:p>
        </p:txBody>
      </p:sp>
      <p:sp>
        <p:nvSpPr>
          <p:cNvPr id="8" name="Shape 8"/>
          <p:cNvSpPr/>
          <p:nvPr/>
        </p:nvSpPr>
        <p:spPr>
          <a:xfrm>
            <a:off x="4206240" y="309067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384047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1D4ED8"/>
                </a:solidFill>
                <a:latin typeface="Source Sans 3"/>
              </a:rPr>
              <a:t>Jan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84047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Source Serif 4"/>
              </a:rPr>
              <a:t>Build</a:t>
            </a:r>
          </a:p>
        </p:txBody>
      </p:sp>
      <p:sp>
        <p:nvSpPr>
          <p:cNvPr id="11" name="Shape 11"/>
          <p:cNvSpPr/>
          <p:nvPr/>
        </p:nvSpPr>
        <p:spPr>
          <a:xfrm>
            <a:off x="7315200" y="309067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949440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1D4ED8"/>
                </a:solidFill>
                <a:latin typeface="Source Sans 3"/>
              </a:rPr>
              <a:t>Apr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949440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Source Serif 4"/>
              </a:rPr>
              <a:t>Launch</a:t>
            </a:r>
          </a:p>
        </p:txBody>
      </p:sp>
      <p:sp>
        <p:nvSpPr>
          <p:cNvPr id="14" name="Shape 14"/>
          <p:cNvSpPr/>
          <p:nvPr/>
        </p:nvSpPr>
        <p:spPr>
          <a:xfrm>
            <a:off x="10424159" y="309067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1005839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1D4ED8"/>
                </a:solidFill>
                <a:latin typeface="Source Sans 3"/>
              </a:rPr>
              <a:t>Sep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39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Source Serif 4"/>
              </a:rPr>
              <a:t>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0F172A"/>
                </a:solidFill>
                <a:latin typeface="Source Sans 3"/>
              </a:rPr>
              <a:t>Thank you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4999"/>
              </a:lnSpc>
              <a:buNone/>
            </a:pPr>
            <a:r>
              <a:rPr lang="en-US" sz="2200" dirty="0">
                <a:solidFill>
                  <a:srgbClr val="475569"/>
                </a:solidFill>
                <a:latin typeface="Source Serif 4"/>
              </a:rPr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talk">
  <a:themeElements>
    <a:clrScheme name="Research talk">
      <a:dk1>
        <a:srgbClr val="111827"/>
      </a:dk1>
      <a:lt1>
        <a:srgbClr val="FFFFFF"/>
      </a:lt1>
      <a:dk2>
        <a:srgbClr val="1F2937"/>
      </a:dk2>
      <a:lt2>
        <a:srgbClr val="EEF2FF"/>
      </a:lt2>
      <a:accent1>
        <a:srgbClr val="1D4ED8"/>
      </a:accent1>
      <a:accent2>
        <a:srgbClr val="0EA5E9"/>
      </a:accent2>
      <a:accent3>
        <a:srgbClr val="475569"/>
      </a:accent3>
      <a:accent4>
        <a:srgbClr val="10B981"/>
      </a:accent4>
      <a:accent5>
        <a:srgbClr val="8B5CF6"/>
      </a:accent5>
      <a:accent6>
        <a:srgbClr val="EF4444"/>
      </a:accent6>
      <a:hlink>
        <a:srgbClr val="1D4ED8"/>
      </a:hlink>
      <a:folHlink>
        <a:srgbClr val="0EA5E9"/>
      </a:folHlink>
    </a:clrScheme>
    <a:fontScheme name="Research talk">
      <a:majorFont>
        <a:latin typeface="Source Sans 3"/>
        <a:ea typeface=""/>
        <a:cs typeface=""/>
      </a:majorFont>
      <a:minorFont>
        <a:latin typeface="Source Serif 4"/>
        <a:ea typeface=""/>
        <a:cs typeface=""/>
      </a:minorFont>
    </a:fontScheme>
    <a:fmtScheme name="Cra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Craft Suite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Research talk</dc:title>
  <dc:subject/>
  <dc:creator>Craft Suite</dc:creator>
  <cp:keywords>template</cp:keywords>
  <dcterms:created xsi:type="dcterms:W3CDTF">2026-01-01T00:00:00Z</dcterms:created>
</cp:coreProperties>
</file>