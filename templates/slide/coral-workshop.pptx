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</p:sldIdLst>
  <p:sldSz cx="12192000" cy="6858000"/>
  <p:notesSz cx="6858000" cy="9144000"/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E8505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3"/>
          <p:cNvSpPr/>
          <p:nvPr/>
        </p:nvSpPr>
        <p:spPr>
          <a:xfrm>
            <a:off x="8351215" y="-1097280"/>
            <a:ext cx="4937760" cy="4937760"/>
          </a:xfrm>
          <a:prstGeom prst="ellipse">
            <a:avLst/>
          </a:prstGeom>
          <a:solidFill>
            <a:srgbClr val="F9A26C">
              <a:alpha val="25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4"/>
          <p:cNvSpPr/>
          <p:nvPr/>
        </p:nvSpPr>
        <p:spPr>
          <a:xfrm>
            <a:off x="9814255" y="4206240"/>
            <a:ext cx="3291840" cy="3291840"/>
          </a:xfrm>
          <a:prstGeom prst="ellipse">
            <a:avLst/>
          </a:prstGeom>
          <a:solidFill>
            <a:srgbClr val="E8505B">
              <a:alpha val="2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5"/>
          <p:cNvSpPr txBox="1"/>
          <p:nvPr/>
        </p:nvSpPr>
        <p:spPr>
          <a:xfrm>
            <a:off x="914400" y="1828800"/>
            <a:ext cx="5486400" cy="365760"/>
          </a:xfrm>
          <a:prstGeom prst="rect">
            <a:avLst/>
          </a:prstGeom>
          <a:noFill/>
        </p:spPr>
        <p:txBody>
          <a:bodyPr wrap="square" lIns="45720" tIns="45720" rIns="45720" bIns="45720" anchor="t"/>
          <a:lstStyle/>
          <a:p>
            <a:pPr algn="l">
              <a:buNone/>
            </a:pPr>
            <a:r>
              <a:rPr lang="en-US" sz="1200" b="1" spc="200" dirty="0">
                <a:solidFill>
                  <a:srgbClr val="E8505B"/>
                </a:solidFill>
                <a:latin typeface="Nunito Sans"/>
              </a:rPr>
              <a:t>CRAFT SUITE · 2026</a:t>
            </a:r>
          </a:p>
        </p:txBody>
      </p:sp>
      <p:sp>
        <p:nvSpPr>
          <p:cNvPr id="6" name="Text 6"/>
          <p:cNvSpPr txBox="1"/>
          <p:nvPr/>
        </p:nvSpPr>
        <p:spPr>
          <a:xfrm>
            <a:off x="914400" y="2240280"/>
            <a:ext cx="7863840" cy="2011680"/>
          </a:xfrm>
          <a:prstGeom prst="rect">
            <a:avLst/>
          </a:prstGeom>
          <a:noFill/>
        </p:spPr>
        <p:txBody>
          <a:bodyPr wrap="square" lIns="45720" tIns="45720" rIns="45720" bIns="45720" anchor="t"/>
          <a:lstStyle/>
          <a:p>
            <a:pPr algn="l">
              <a:lnSpc>
                <a:spcPct val="95000"/>
              </a:lnSpc>
              <a:buNone/>
            </a:pPr>
            <a:r>
              <a:rPr lang="en-US" sz="6000" b="1" dirty="0">
                <a:solidFill>
                  <a:srgbClr val="2B2B2B"/>
                </a:solidFill>
                <a:latin typeface="Poppins"/>
              </a:rPr>
              <a:t>Coral workshop</a:t>
            </a:r>
          </a:p>
        </p:txBody>
      </p:sp>
      <p:sp>
        <p:nvSpPr>
          <p:cNvPr id="7" name="Text 7"/>
          <p:cNvSpPr txBox="1"/>
          <p:nvPr/>
        </p:nvSpPr>
        <p:spPr>
          <a:xfrm>
            <a:off x="914400" y="4160520"/>
            <a:ext cx="6858000" cy="822960"/>
          </a:xfrm>
          <a:prstGeom prst="rect">
            <a:avLst/>
          </a:prstGeom>
          <a:noFill/>
        </p:spPr>
        <p:txBody>
          <a:bodyPr wrap="square" lIns="45720" tIns="45720" rIns="45720" bIns="45720" anchor="t"/>
          <a:lstStyle/>
          <a:p>
            <a:pPr algn="l">
              <a:lnSpc>
                <a:spcPct val="114999"/>
              </a:lnSpc>
              <a:buNone/>
            </a:pPr>
            <a:r>
              <a:rPr lang="en-US" sz="2200" dirty="0">
                <a:solidFill>
                  <a:srgbClr val="6B6B6B"/>
                </a:solidFill>
                <a:latin typeface="Nunito Sans"/>
              </a:rPr>
              <a:t>A short subtitle that says what this presentation is about</a:t>
            </a:r>
          </a:p>
        </p:txBody>
      </p:sp>
      <p:sp>
        <p:nvSpPr>
          <p:cNvPr id="8" name="Shape 8"/>
          <p:cNvSpPr/>
          <p:nvPr/>
        </p:nvSpPr>
        <p:spPr>
          <a:xfrm>
            <a:off x="914400" y="5257800"/>
            <a:ext cx="1280160" cy="64008"/>
          </a:xfrm>
          <a:prstGeom prst="rect">
            <a:avLst/>
          </a:prstGeom>
          <a:solidFill>
            <a:srgbClr val="E8505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9"/>
          <p:cNvSpPr txBox="1"/>
          <p:nvPr/>
        </p:nvSpPr>
        <p:spPr>
          <a:xfrm>
            <a:off x="914400" y="5440680"/>
            <a:ext cx="5486400" cy="457200"/>
          </a:xfrm>
          <a:prstGeom prst="rect">
            <a:avLst/>
          </a:prstGeom>
          <a:noFill/>
        </p:spPr>
        <p:txBody>
          <a:bodyPr wrap="square" lIns="45720" tIns="45720" rIns="45720" bIns="45720" anchor="t"/>
          <a:lstStyle/>
          <a:p>
            <a:pPr algn="l">
              <a:lnSpc>
                <a:spcPct val="114999"/>
              </a:lnSpc>
              <a:buNone/>
            </a:pPr>
            <a:r>
              <a:rPr lang="en-US" sz="1400" dirty="0">
                <a:solidFill>
                  <a:srgbClr val="6B6B6B"/>
                </a:solidFill>
                <a:latin typeface="Nunito Sans"/>
              </a:rPr>
              <a:t>Presenter name · Date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822960" y="640080"/>
            <a:ext cx="5486400" cy="365760"/>
          </a:xfrm>
          <a:prstGeom prst="rect">
            <a:avLst/>
          </a:prstGeom>
          <a:noFill/>
        </p:spPr>
        <p:txBody>
          <a:bodyPr wrap="square" lIns="45720" tIns="45720" rIns="45720" bIns="45720" anchor="t"/>
          <a:lstStyle/>
          <a:p>
            <a:pPr algn="l">
              <a:buNone/>
            </a:pPr>
            <a:r>
              <a:rPr lang="en-US" sz="1200" b="1" spc="200" dirty="0">
                <a:solidFill>
                  <a:srgbClr val="E8505B"/>
                </a:solidFill>
                <a:latin typeface="Nunito Sans"/>
              </a:rPr>
              <a:t>AGENDA</a:t>
            </a:r>
          </a:p>
        </p:txBody>
      </p:sp>
      <p:sp>
        <p:nvSpPr>
          <p:cNvPr id="3" name="Text 3"/>
          <p:cNvSpPr txBox="1"/>
          <p:nvPr/>
        </p:nvSpPr>
        <p:spPr>
          <a:xfrm>
            <a:off x="822960" y="960120"/>
            <a:ext cx="10058400" cy="914400"/>
          </a:xfrm>
          <a:prstGeom prst="rect">
            <a:avLst/>
          </a:prstGeom>
          <a:noFill/>
        </p:spPr>
        <p:txBody>
          <a:bodyPr wrap="square" lIns="45720" tIns="45720" rIns="45720" bIns="45720" anchor="t"/>
          <a:lstStyle/>
          <a:p>
            <a:pPr algn="l">
              <a:lnSpc>
                <a:spcPct val="95000"/>
              </a:lnSpc>
              <a:buNone/>
            </a:pPr>
            <a:r>
              <a:rPr lang="en-US" sz="4000" b="1" dirty="0">
                <a:solidFill>
                  <a:srgbClr val="2B2B2B"/>
                </a:solidFill>
                <a:latin typeface="Poppins"/>
              </a:rPr>
              <a:t>What we'll cover</a:t>
            </a:r>
          </a:p>
        </p:txBody>
      </p:sp>
      <p:sp>
        <p:nvSpPr>
          <p:cNvPr id="4" name="Shape 4"/>
          <p:cNvSpPr/>
          <p:nvPr/>
        </p:nvSpPr>
        <p:spPr>
          <a:xfrm>
            <a:off x="822960" y="2240280"/>
            <a:ext cx="566928" cy="566928"/>
          </a:xfrm>
          <a:prstGeom prst="ellipse">
            <a:avLst/>
          </a:prstGeom>
          <a:solidFill>
            <a:srgbClr val="E8505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5"/>
          <p:cNvSpPr txBox="1"/>
          <p:nvPr/>
        </p:nvSpPr>
        <p:spPr>
          <a:xfrm>
            <a:off x="822960" y="2240280"/>
            <a:ext cx="566928" cy="5669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800" b="1" dirty="0">
                <a:solidFill>
                  <a:srgbClr val="FFFFFF"/>
                </a:solidFill>
                <a:latin typeface="Poppins"/>
              </a:rPr>
              <a:t>1</a:t>
            </a:r>
          </a:p>
        </p:txBody>
      </p:sp>
      <p:sp>
        <p:nvSpPr>
          <p:cNvPr id="6" name="Text 6"/>
          <p:cNvSpPr txBox="1"/>
          <p:nvPr/>
        </p:nvSpPr>
        <p:spPr>
          <a:xfrm>
            <a:off x="1645920" y="2313432"/>
            <a:ext cx="8229600" cy="548640"/>
          </a:xfrm>
          <a:prstGeom prst="rect">
            <a:avLst/>
          </a:prstGeom>
          <a:noFill/>
        </p:spPr>
        <p:txBody>
          <a:bodyPr wrap="square" lIns="45720" tIns="45720" rIns="45720" bIns="45720" anchor="t"/>
          <a:lstStyle/>
          <a:p>
            <a:pPr algn="l">
              <a:lnSpc>
                <a:spcPct val="114999"/>
              </a:lnSpc>
              <a:buNone/>
            </a:pPr>
            <a:r>
              <a:rPr lang="en-US" sz="2200" dirty="0">
                <a:solidFill>
                  <a:srgbClr val="2B2B2B"/>
                </a:solidFill>
                <a:latin typeface="Nunito Sans"/>
              </a:rPr>
              <a:t>Where we are today</a:t>
            </a:r>
          </a:p>
        </p:txBody>
      </p:sp>
      <p:sp>
        <p:nvSpPr>
          <p:cNvPr id="7" name="Shape 7"/>
          <p:cNvSpPr/>
          <p:nvPr/>
        </p:nvSpPr>
        <p:spPr>
          <a:xfrm>
            <a:off x="822960" y="3026664"/>
            <a:ext cx="566928" cy="566928"/>
          </a:xfrm>
          <a:prstGeom prst="ellipse">
            <a:avLst/>
          </a:prstGeom>
          <a:solidFill>
            <a:srgbClr val="E8505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8"/>
          <p:cNvSpPr txBox="1"/>
          <p:nvPr/>
        </p:nvSpPr>
        <p:spPr>
          <a:xfrm>
            <a:off x="822960" y="3026664"/>
            <a:ext cx="566928" cy="5669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800" b="1" dirty="0">
                <a:solidFill>
                  <a:srgbClr val="FFFFFF"/>
                </a:solidFill>
                <a:latin typeface="Poppins"/>
              </a:rPr>
              <a:t>2</a:t>
            </a:r>
          </a:p>
        </p:txBody>
      </p:sp>
      <p:sp>
        <p:nvSpPr>
          <p:cNvPr id="9" name="Text 9"/>
          <p:cNvSpPr txBox="1"/>
          <p:nvPr/>
        </p:nvSpPr>
        <p:spPr>
          <a:xfrm>
            <a:off x="1645920" y="3099816"/>
            <a:ext cx="8229600" cy="548640"/>
          </a:xfrm>
          <a:prstGeom prst="rect">
            <a:avLst/>
          </a:prstGeom>
          <a:noFill/>
        </p:spPr>
        <p:txBody>
          <a:bodyPr wrap="square" lIns="45720" tIns="45720" rIns="45720" bIns="45720" anchor="t"/>
          <a:lstStyle/>
          <a:p>
            <a:pPr algn="l">
              <a:lnSpc>
                <a:spcPct val="114999"/>
              </a:lnSpc>
              <a:buNone/>
            </a:pPr>
            <a:r>
              <a:rPr lang="en-US" sz="2200" dirty="0">
                <a:solidFill>
                  <a:srgbClr val="2B2B2B"/>
                </a:solidFill>
                <a:latin typeface="Nunito Sans"/>
              </a:rPr>
              <a:t>The opportunity</a:t>
            </a:r>
          </a:p>
        </p:txBody>
      </p:sp>
      <p:sp>
        <p:nvSpPr>
          <p:cNvPr id="10" name="Shape 10"/>
          <p:cNvSpPr/>
          <p:nvPr/>
        </p:nvSpPr>
        <p:spPr>
          <a:xfrm>
            <a:off x="822960" y="3813048"/>
            <a:ext cx="566928" cy="566928"/>
          </a:xfrm>
          <a:prstGeom prst="ellipse">
            <a:avLst/>
          </a:prstGeom>
          <a:solidFill>
            <a:srgbClr val="E8505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11"/>
          <p:cNvSpPr txBox="1"/>
          <p:nvPr/>
        </p:nvSpPr>
        <p:spPr>
          <a:xfrm>
            <a:off x="822960" y="3813048"/>
            <a:ext cx="566928" cy="5669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800" b="1" dirty="0">
                <a:solidFill>
                  <a:srgbClr val="FFFFFF"/>
                </a:solidFill>
                <a:latin typeface="Poppins"/>
              </a:rPr>
              <a:t>3</a:t>
            </a:r>
          </a:p>
        </p:txBody>
      </p:sp>
      <p:sp>
        <p:nvSpPr>
          <p:cNvPr id="12" name="Text 12"/>
          <p:cNvSpPr txBox="1"/>
          <p:nvPr/>
        </p:nvSpPr>
        <p:spPr>
          <a:xfrm>
            <a:off x="1645920" y="3886200"/>
            <a:ext cx="8229600" cy="548640"/>
          </a:xfrm>
          <a:prstGeom prst="rect">
            <a:avLst/>
          </a:prstGeom>
          <a:noFill/>
        </p:spPr>
        <p:txBody>
          <a:bodyPr wrap="square" lIns="45720" tIns="45720" rIns="45720" bIns="45720" anchor="t"/>
          <a:lstStyle/>
          <a:p>
            <a:pPr algn="l">
              <a:lnSpc>
                <a:spcPct val="114999"/>
              </a:lnSpc>
              <a:buNone/>
            </a:pPr>
            <a:r>
              <a:rPr lang="en-US" sz="2200" dirty="0">
                <a:solidFill>
                  <a:srgbClr val="2B2B2B"/>
                </a:solidFill>
                <a:latin typeface="Nunito Sans"/>
              </a:rPr>
              <a:t>Our plan</a:t>
            </a:r>
          </a:p>
        </p:txBody>
      </p:sp>
      <p:sp>
        <p:nvSpPr>
          <p:cNvPr id="13" name="Shape 13"/>
          <p:cNvSpPr/>
          <p:nvPr/>
        </p:nvSpPr>
        <p:spPr>
          <a:xfrm>
            <a:off x="822960" y="4599432"/>
            <a:ext cx="566928" cy="566928"/>
          </a:xfrm>
          <a:prstGeom prst="ellipse">
            <a:avLst/>
          </a:prstGeom>
          <a:solidFill>
            <a:srgbClr val="E8505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4"/>
          <p:cNvSpPr txBox="1"/>
          <p:nvPr/>
        </p:nvSpPr>
        <p:spPr>
          <a:xfrm>
            <a:off x="822960" y="4599432"/>
            <a:ext cx="566928" cy="5669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800" b="1" dirty="0">
                <a:solidFill>
                  <a:srgbClr val="FFFFFF"/>
                </a:solidFill>
                <a:latin typeface="Poppins"/>
              </a:rPr>
              <a:t>4</a:t>
            </a:r>
          </a:p>
        </p:txBody>
      </p:sp>
      <p:sp>
        <p:nvSpPr>
          <p:cNvPr id="15" name="Text 15"/>
          <p:cNvSpPr txBox="1"/>
          <p:nvPr/>
        </p:nvSpPr>
        <p:spPr>
          <a:xfrm>
            <a:off x="1645920" y="4672584"/>
            <a:ext cx="8229600" cy="548640"/>
          </a:xfrm>
          <a:prstGeom prst="rect">
            <a:avLst/>
          </a:prstGeom>
          <a:noFill/>
        </p:spPr>
        <p:txBody>
          <a:bodyPr wrap="square" lIns="45720" tIns="45720" rIns="45720" bIns="45720" anchor="t"/>
          <a:lstStyle/>
          <a:p>
            <a:pPr algn="l">
              <a:lnSpc>
                <a:spcPct val="114999"/>
              </a:lnSpc>
              <a:buNone/>
            </a:pPr>
            <a:r>
              <a:rPr lang="en-US" sz="2200" dirty="0">
                <a:solidFill>
                  <a:srgbClr val="2B2B2B"/>
                </a:solidFill>
                <a:latin typeface="Nunito Sans"/>
              </a:rPr>
              <a:t>Timeline and budget</a:t>
            </a:r>
          </a:p>
        </p:txBody>
      </p:sp>
      <p:sp>
        <p:nvSpPr>
          <p:cNvPr id="16" name="Shape 16"/>
          <p:cNvSpPr/>
          <p:nvPr/>
        </p:nvSpPr>
        <p:spPr>
          <a:xfrm>
            <a:off x="822960" y="5385816"/>
            <a:ext cx="566928" cy="566928"/>
          </a:xfrm>
          <a:prstGeom prst="ellipse">
            <a:avLst/>
          </a:prstGeom>
          <a:solidFill>
            <a:srgbClr val="E8505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7"/>
          <p:cNvSpPr txBox="1"/>
          <p:nvPr/>
        </p:nvSpPr>
        <p:spPr>
          <a:xfrm>
            <a:off x="822960" y="5385816"/>
            <a:ext cx="566928" cy="5669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800" b="1" dirty="0">
                <a:solidFill>
                  <a:srgbClr val="FFFFFF"/>
                </a:solidFill>
                <a:latin typeface="Poppins"/>
              </a:rPr>
              <a:t>5</a:t>
            </a:r>
          </a:p>
        </p:txBody>
      </p:sp>
      <p:sp>
        <p:nvSpPr>
          <p:cNvPr id="18" name="Text 18"/>
          <p:cNvSpPr txBox="1"/>
          <p:nvPr/>
        </p:nvSpPr>
        <p:spPr>
          <a:xfrm>
            <a:off x="1645920" y="5458968"/>
            <a:ext cx="8229600" cy="548640"/>
          </a:xfrm>
          <a:prstGeom prst="rect">
            <a:avLst/>
          </a:prstGeom>
          <a:noFill/>
        </p:spPr>
        <p:txBody>
          <a:bodyPr wrap="square" lIns="45720" tIns="45720" rIns="45720" bIns="45720" anchor="t"/>
          <a:lstStyle/>
          <a:p>
            <a:pPr algn="l">
              <a:lnSpc>
                <a:spcPct val="114999"/>
              </a:lnSpc>
              <a:buNone/>
            </a:pPr>
            <a:r>
              <a:rPr lang="en-US" sz="2200" dirty="0">
                <a:solidFill>
                  <a:srgbClr val="2B2B2B"/>
                </a:solidFill>
                <a:latin typeface="Nunito Sans"/>
              </a:rPr>
              <a:t>Questions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505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7162495" y="0"/>
            <a:ext cx="5029200" cy="6858000"/>
          </a:xfrm>
          <a:prstGeom prst="rect">
            <a:avLst/>
          </a:prstGeom>
          <a:solidFill>
            <a:srgbClr val="FFFFFF">
              <a:alpha val="1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3"/>
          <p:cNvSpPr txBox="1"/>
          <p:nvPr/>
        </p:nvSpPr>
        <p:spPr>
          <a:xfrm>
            <a:off x="822960" y="2011680"/>
            <a:ext cx="2743200" cy="1097280"/>
          </a:xfrm>
          <a:prstGeom prst="rect">
            <a:avLst/>
          </a:prstGeom>
          <a:noFill/>
        </p:spPr>
        <p:txBody>
          <a:bodyPr wrap="square" lIns="45720" tIns="45720" rIns="45720" bIns="45720" anchor="t"/>
          <a:lstStyle/>
          <a:p>
            <a:pPr algn="l">
              <a:buNone/>
            </a:pPr>
            <a:r>
              <a:rPr lang="en-US" sz="8000" b="1" dirty="0">
                <a:solidFill>
                  <a:srgbClr val="FFFFFF"/>
                </a:solidFill>
                <a:latin typeface="Poppins"/>
              </a:rPr>
              <a:t>01</a:t>
            </a:r>
          </a:p>
        </p:txBody>
      </p:sp>
      <p:sp>
        <p:nvSpPr>
          <p:cNvPr id="4" name="Text 4"/>
          <p:cNvSpPr txBox="1"/>
          <p:nvPr/>
        </p:nvSpPr>
        <p:spPr>
          <a:xfrm>
            <a:off x="822960" y="3246120"/>
            <a:ext cx="8229600" cy="1280160"/>
          </a:xfrm>
          <a:prstGeom prst="rect">
            <a:avLst/>
          </a:prstGeom>
          <a:noFill/>
        </p:spPr>
        <p:txBody>
          <a:bodyPr wrap="square" lIns="45720" tIns="45720" rIns="45720" bIns="45720" anchor="t"/>
          <a:lstStyle/>
          <a:p>
            <a:pPr algn="l">
              <a:lnSpc>
                <a:spcPct val="95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Poppins"/>
              </a:rPr>
              <a:t>The opportunity</a:t>
            </a:r>
          </a:p>
        </p:txBody>
      </p:sp>
      <p:sp>
        <p:nvSpPr>
          <p:cNvPr id="5" name="Text 5"/>
          <p:cNvSpPr txBox="1"/>
          <p:nvPr/>
        </p:nvSpPr>
        <p:spPr>
          <a:xfrm>
            <a:off x="822960" y="4343400"/>
            <a:ext cx="7315200" cy="731520"/>
          </a:xfrm>
          <a:prstGeom prst="rect">
            <a:avLst/>
          </a:prstGeom>
          <a:noFill/>
        </p:spPr>
        <p:txBody>
          <a:bodyPr wrap="square" lIns="45720" tIns="45720" rIns="45720" bIns="45720" anchor="t"/>
          <a:lstStyle/>
          <a:p>
            <a:pPr algn="l">
              <a:lnSpc>
                <a:spcPct val="114999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Nunito Sans"/>
              </a:rPr>
              <a:t>Why now is the right moment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822960" y="640080"/>
            <a:ext cx="5486400" cy="365760"/>
          </a:xfrm>
          <a:prstGeom prst="rect">
            <a:avLst/>
          </a:prstGeom>
          <a:noFill/>
        </p:spPr>
        <p:txBody>
          <a:bodyPr wrap="square" lIns="45720" tIns="45720" rIns="45720" bIns="45720" anchor="t"/>
          <a:lstStyle/>
          <a:p>
            <a:pPr algn="l">
              <a:buNone/>
            </a:pPr>
            <a:r>
              <a:rPr lang="en-US" sz="1200" b="1" spc="200" dirty="0">
                <a:solidFill>
                  <a:srgbClr val="E8505B"/>
                </a:solidFill>
                <a:latin typeface="Nunito Sans"/>
              </a:rPr>
              <a:t>TODAY</a:t>
            </a:r>
          </a:p>
        </p:txBody>
      </p:sp>
      <p:sp>
        <p:nvSpPr>
          <p:cNvPr id="3" name="Text 3"/>
          <p:cNvSpPr txBox="1"/>
          <p:nvPr/>
        </p:nvSpPr>
        <p:spPr>
          <a:xfrm>
            <a:off x="822960" y="960120"/>
            <a:ext cx="6766560" cy="914400"/>
          </a:xfrm>
          <a:prstGeom prst="rect">
            <a:avLst/>
          </a:prstGeom>
          <a:noFill/>
        </p:spPr>
        <p:txBody>
          <a:bodyPr wrap="square" lIns="45720" tIns="45720" rIns="45720" bIns="45720" anchor="t"/>
          <a:lstStyle/>
          <a:p>
            <a:pPr algn="l">
              <a:lnSpc>
                <a:spcPct val="95000"/>
              </a:lnSpc>
              <a:buNone/>
            </a:pPr>
            <a:r>
              <a:rPr lang="en-US" sz="3600" b="1" dirty="0">
                <a:solidFill>
                  <a:srgbClr val="2B2B2B"/>
                </a:solidFill>
                <a:latin typeface="Poppins"/>
              </a:rPr>
              <a:t>Three things we know</a:t>
            </a:r>
          </a:p>
        </p:txBody>
      </p:sp>
      <p:sp>
        <p:nvSpPr>
          <p:cNvPr id="4" name="Text 4"/>
          <p:cNvSpPr txBox="1"/>
          <p:nvPr/>
        </p:nvSpPr>
        <p:spPr>
          <a:xfrm>
            <a:off x="822960" y="2103120"/>
            <a:ext cx="6309360" cy="3840480"/>
          </a:xfrm>
          <a:prstGeom prst="rect">
            <a:avLst/>
          </a:prstGeom>
          <a:noFill/>
        </p:spPr>
        <p:txBody>
          <a:bodyPr wrap="square" lIns="45720" tIns="45720" rIns="45720" bIns="45720" anchor="t"/>
          <a:lstStyle/>
          <a:p>
            <a:pPr algn="l" marL="285750" indent="-285750">
              <a:spcAft>
                <a:spcPts val="1400"/>
              </a:spcAft>
              <a:buClr>
                <a:srgbClr val="E8505B"/>
              </a:buClr>
              <a:buFont typeface="Arial"/>
              <a:buChar char="•"/>
            </a:pPr>
            <a:r>
              <a:rPr lang="en-US" sz="2000" b="1" dirty="0">
                <a:solidFill>
                  <a:srgbClr val="2B2B2B"/>
                </a:solidFill>
                <a:latin typeface="Nunito Sans"/>
              </a:rPr>
              <a:t>Customers want speed. </a:t>
            </a:r>
            <a:r>
              <a:rPr lang="en-US" sz="2000" dirty="0">
                <a:solidFill>
                  <a:srgbClr val="6B6B6B"/>
                </a:solidFill>
                <a:latin typeface="Nunito Sans"/>
              </a:rPr>
              <a:t>Replies within an hour double renewals.</a:t>
            </a:r>
          </a:p>
          <a:p>
            <a:pPr algn="l" marL="285750" indent="-285750">
              <a:spcAft>
                <a:spcPts val="1400"/>
              </a:spcAft>
              <a:buClr>
                <a:srgbClr val="E8505B"/>
              </a:buClr>
              <a:buFont typeface="Arial"/>
              <a:buChar char="•"/>
            </a:pPr>
            <a:r>
              <a:rPr lang="en-US" sz="2000" b="1" dirty="0">
                <a:solidFill>
                  <a:srgbClr val="2B2B2B"/>
                </a:solidFill>
                <a:latin typeface="Nunito Sans"/>
              </a:rPr>
              <a:t>Costs are flat. </a:t>
            </a:r>
            <a:r>
              <a:rPr lang="en-US" sz="2000" dirty="0">
                <a:solidFill>
                  <a:srgbClr val="6B6B6B"/>
                </a:solidFill>
                <a:latin typeface="Nunito Sans"/>
              </a:rPr>
              <a:t>Growth no longer needs new offices.</a:t>
            </a:r>
          </a:p>
          <a:p>
            <a:pPr algn="l" marL="285750" indent="-285750">
              <a:spcAft>
                <a:spcPts val="1400"/>
              </a:spcAft>
              <a:buClr>
                <a:srgbClr val="E8505B"/>
              </a:buClr>
              <a:buFont typeface="Arial"/>
              <a:buChar char="•"/>
            </a:pPr>
            <a:r>
              <a:rPr lang="en-US" sz="2000" b="1" dirty="0">
                <a:solidFill>
                  <a:srgbClr val="2B2B2B"/>
                </a:solidFill>
                <a:latin typeface="Nunito Sans"/>
              </a:rPr>
              <a:t>Pilots work. </a:t>
            </a:r>
            <a:r>
              <a:rPr lang="en-US" sz="2000" dirty="0">
                <a:solidFill>
                  <a:srgbClr val="6B6B6B"/>
                </a:solidFill>
                <a:latin typeface="Nunito Sans"/>
              </a:rPr>
              <a:t>Four of six became permanent services.</a:t>
            </a:r>
          </a:p>
        </p:txBody>
      </p:sp>
      <p:sp>
        <p:nvSpPr>
          <p:cNvPr id="5" name="Shape 5"/>
          <p:cNvSpPr/>
          <p:nvPr/>
        </p:nvSpPr>
        <p:spPr>
          <a:xfrm>
            <a:off x="7772400" y="1097280"/>
            <a:ext cx="3566160" cy="4754880"/>
          </a:xfrm>
          <a:prstGeom prst="roundRect">
            <a:avLst>
              <a:gd name="adj" fmla="val 6000"/>
            </a:avLst>
          </a:prstGeom>
          <a:solidFill>
            <a:srgbClr val="FFE4D6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6"/>
          <p:cNvSpPr txBox="1"/>
          <p:nvPr/>
        </p:nvSpPr>
        <p:spPr>
          <a:xfrm>
            <a:off x="8092440" y="1463040"/>
            <a:ext cx="2926080" cy="1097280"/>
          </a:xfrm>
          <a:prstGeom prst="rect">
            <a:avLst/>
          </a:prstGeom>
          <a:noFill/>
        </p:spPr>
        <p:txBody>
          <a:bodyPr wrap="square" lIns="45720" tIns="45720" rIns="45720" bIns="45720" anchor="t"/>
          <a:lstStyle/>
          <a:p>
            <a:pPr algn="l">
              <a:buNone/>
            </a:pPr>
            <a:r>
              <a:rPr lang="en-US" sz="5400" b="1" dirty="0">
                <a:solidFill>
                  <a:srgbClr val="E8505B"/>
                </a:solidFill>
                <a:latin typeface="Poppins"/>
              </a:rPr>
              <a:t>+18%</a:t>
            </a:r>
          </a:p>
        </p:txBody>
      </p:sp>
      <p:sp>
        <p:nvSpPr>
          <p:cNvPr id="7" name="Text 7"/>
          <p:cNvSpPr txBox="1"/>
          <p:nvPr/>
        </p:nvSpPr>
        <p:spPr>
          <a:xfrm>
            <a:off x="8092440" y="2514600"/>
            <a:ext cx="2926080" cy="914400"/>
          </a:xfrm>
          <a:prstGeom prst="rect">
            <a:avLst/>
          </a:prstGeom>
          <a:noFill/>
        </p:spPr>
        <p:txBody>
          <a:bodyPr wrap="square" lIns="45720" tIns="45720" rIns="45720" bIns="45720" anchor="t"/>
          <a:lstStyle/>
          <a:p>
            <a:pPr algn="l">
              <a:lnSpc>
                <a:spcPct val="114999"/>
              </a:lnSpc>
              <a:buNone/>
            </a:pPr>
            <a:r>
              <a:rPr lang="en-US" sz="1600" dirty="0">
                <a:solidFill>
                  <a:srgbClr val="6B6B6B"/>
                </a:solidFill>
                <a:latin typeface="Nunito Sans"/>
              </a:rPr>
              <a:t>revenue growth this year</a:t>
            </a:r>
          </a:p>
        </p:txBody>
      </p:sp>
      <p:sp>
        <p:nvSpPr>
          <p:cNvPr id="8" name="Shape 8"/>
          <p:cNvSpPr/>
          <p:nvPr/>
        </p:nvSpPr>
        <p:spPr>
          <a:xfrm>
            <a:off x="8092440" y="3520440"/>
            <a:ext cx="2926080" cy="27432"/>
          </a:xfrm>
          <a:prstGeom prst="rect">
            <a:avLst/>
          </a:prstGeom>
          <a:solidFill>
            <a:srgbClr val="6B6B6B">
              <a:alpha val="4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9"/>
          <p:cNvSpPr txBox="1"/>
          <p:nvPr/>
        </p:nvSpPr>
        <p:spPr>
          <a:xfrm>
            <a:off x="8092440" y="3703320"/>
            <a:ext cx="2926080" cy="1097280"/>
          </a:xfrm>
          <a:prstGeom prst="rect">
            <a:avLst/>
          </a:prstGeom>
          <a:noFill/>
        </p:spPr>
        <p:txBody>
          <a:bodyPr wrap="square" lIns="45720" tIns="45720" rIns="45720" bIns="45720" anchor="t"/>
          <a:lstStyle/>
          <a:p>
            <a:pPr algn="l">
              <a:buNone/>
            </a:pPr>
            <a:r>
              <a:rPr lang="en-US" sz="4000" b="1" dirty="0">
                <a:solidFill>
                  <a:srgbClr val="2B2B2B"/>
                </a:solidFill>
                <a:latin typeface="Poppins"/>
              </a:rPr>
              <a:t>1,240</a:t>
            </a:r>
          </a:p>
        </p:txBody>
      </p:sp>
      <p:sp>
        <p:nvSpPr>
          <p:cNvPr id="10" name="Text 10"/>
          <p:cNvSpPr txBox="1"/>
          <p:nvPr/>
        </p:nvSpPr>
        <p:spPr>
          <a:xfrm>
            <a:off x="8092440" y="4526280"/>
            <a:ext cx="2926080" cy="914400"/>
          </a:xfrm>
          <a:prstGeom prst="rect">
            <a:avLst/>
          </a:prstGeom>
          <a:noFill/>
        </p:spPr>
        <p:txBody>
          <a:bodyPr wrap="square" lIns="45720" tIns="45720" rIns="45720" bIns="45720" anchor="t"/>
          <a:lstStyle/>
          <a:p>
            <a:pPr algn="l">
              <a:lnSpc>
                <a:spcPct val="114999"/>
              </a:lnSpc>
              <a:buNone/>
            </a:pPr>
            <a:r>
              <a:rPr lang="en-US" sz="1600" dirty="0">
                <a:solidFill>
                  <a:srgbClr val="6B6B6B"/>
                </a:solidFill>
                <a:latin typeface="Nunito Sans"/>
              </a:rPr>
              <a:t>active customers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822960" y="640080"/>
            <a:ext cx="5486400" cy="365760"/>
          </a:xfrm>
          <a:prstGeom prst="rect">
            <a:avLst/>
          </a:prstGeom>
          <a:noFill/>
        </p:spPr>
        <p:txBody>
          <a:bodyPr wrap="square" lIns="45720" tIns="45720" rIns="45720" bIns="45720" anchor="t"/>
          <a:lstStyle/>
          <a:p>
            <a:pPr algn="l">
              <a:buNone/>
            </a:pPr>
            <a:r>
              <a:rPr lang="en-US" sz="1200" b="1" spc="200" dirty="0">
                <a:solidFill>
                  <a:srgbClr val="E8505B"/>
                </a:solidFill>
                <a:latin typeface="Nunito Sans"/>
              </a:rPr>
              <a:t>RESULTS</a:t>
            </a:r>
          </a:p>
        </p:txBody>
      </p:sp>
      <p:sp>
        <p:nvSpPr>
          <p:cNvPr id="3" name="Text 3"/>
          <p:cNvSpPr txBox="1"/>
          <p:nvPr/>
        </p:nvSpPr>
        <p:spPr>
          <a:xfrm>
            <a:off x="822960" y="960120"/>
            <a:ext cx="10058400" cy="914400"/>
          </a:xfrm>
          <a:prstGeom prst="rect">
            <a:avLst/>
          </a:prstGeom>
          <a:noFill/>
        </p:spPr>
        <p:txBody>
          <a:bodyPr wrap="square" lIns="45720" tIns="45720" rIns="45720" bIns="45720" anchor="t"/>
          <a:lstStyle/>
          <a:p>
            <a:pPr algn="l">
              <a:lnSpc>
                <a:spcPct val="95000"/>
              </a:lnSpc>
              <a:buNone/>
            </a:pPr>
            <a:r>
              <a:rPr lang="en-US" sz="3600" b="1" dirty="0">
                <a:solidFill>
                  <a:srgbClr val="2B2B2B"/>
                </a:solidFill>
                <a:latin typeface="Poppins"/>
              </a:rPr>
              <a:t>Growth by quarter</a:t>
            </a:r>
          </a:p>
        </p:txBody>
      </p:sp>
      <p:sp>
        <p:nvSpPr>
          <p:cNvPr id="4" name="Shape 4"/>
          <p:cNvSpPr/>
          <p:nvPr/>
        </p:nvSpPr>
        <p:spPr>
          <a:xfrm>
            <a:off x="1280160" y="4315968"/>
            <a:ext cx="1371600" cy="1536192"/>
          </a:xfrm>
          <a:prstGeom prst="roundRect">
            <a:avLst>
              <a:gd name="adj" fmla="val 8000"/>
            </a:avLst>
          </a:prstGeom>
          <a:solidFill>
            <a:srgbClr val="F9A26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5"/>
          <p:cNvSpPr txBox="1"/>
          <p:nvPr/>
        </p:nvSpPr>
        <p:spPr>
          <a:xfrm>
            <a:off x="1097280" y="3813048"/>
            <a:ext cx="1737360" cy="457200"/>
          </a:xfrm>
          <a:prstGeom prst="rect">
            <a:avLst/>
          </a:prstGeom>
          <a:noFill/>
        </p:spPr>
        <p:txBody>
          <a:bodyPr wrap="square" lIns="45720" tIns="45720" rIns="45720" bIns="45720" anchor="t"/>
          <a:lstStyle/>
          <a:p>
            <a:pPr algn="ctr">
              <a:buNone/>
            </a:pPr>
            <a:r>
              <a:rPr lang="en-US" sz="1600" b="1" dirty="0">
                <a:solidFill>
                  <a:srgbClr val="2B2B2B"/>
                </a:solidFill>
                <a:latin typeface="Nunito Sans"/>
              </a:rPr>
              <a:t>42k</a:t>
            </a:r>
          </a:p>
        </p:txBody>
      </p:sp>
      <p:sp>
        <p:nvSpPr>
          <p:cNvPr id="6" name="Text 6"/>
          <p:cNvSpPr txBox="1"/>
          <p:nvPr/>
        </p:nvSpPr>
        <p:spPr>
          <a:xfrm>
            <a:off x="1097280" y="5925312"/>
            <a:ext cx="1737360" cy="411480"/>
          </a:xfrm>
          <a:prstGeom prst="rect">
            <a:avLst/>
          </a:prstGeom>
          <a:noFill/>
        </p:spPr>
        <p:txBody>
          <a:bodyPr wrap="square" lIns="45720" tIns="45720" rIns="45720" bIns="45720" anchor="t"/>
          <a:lstStyle/>
          <a:p>
            <a:pPr algn="ctr">
              <a:buNone/>
            </a:pPr>
            <a:r>
              <a:rPr lang="en-US" sz="1500" dirty="0">
                <a:solidFill>
                  <a:srgbClr val="6B6B6B"/>
                </a:solidFill>
                <a:latin typeface="Nunito Sans"/>
              </a:rPr>
              <a:t>Q1</a:t>
            </a:r>
          </a:p>
        </p:txBody>
      </p:sp>
      <p:sp>
        <p:nvSpPr>
          <p:cNvPr id="7" name="Shape 7"/>
          <p:cNvSpPr/>
          <p:nvPr/>
        </p:nvSpPr>
        <p:spPr>
          <a:xfrm>
            <a:off x="3657600" y="3840480"/>
            <a:ext cx="1371600" cy="2011680"/>
          </a:xfrm>
          <a:prstGeom prst="roundRect">
            <a:avLst>
              <a:gd name="adj" fmla="val 8000"/>
            </a:avLst>
          </a:prstGeom>
          <a:solidFill>
            <a:srgbClr val="F9A26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8"/>
          <p:cNvSpPr txBox="1"/>
          <p:nvPr/>
        </p:nvSpPr>
        <p:spPr>
          <a:xfrm>
            <a:off x="3474720" y="3337560"/>
            <a:ext cx="1737360" cy="457200"/>
          </a:xfrm>
          <a:prstGeom prst="rect">
            <a:avLst/>
          </a:prstGeom>
          <a:noFill/>
        </p:spPr>
        <p:txBody>
          <a:bodyPr wrap="square" lIns="45720" tIns="45720" rIns="45720" bIns="45720" anchor="t"/>
          <a:lstStyle/>
          <a:p>
            <a:pPr algn="ctr">
              <a:buNone/>
            </a:pPr>
            <a:r>
              <a:rPr lang="en-US" sz="1600" b="1" dirty="0">
                <a:solidFill>
                  <a:srgbClr val="2B2B2B"/>
                </a:solidFill>
                <a:latin typeface="Nunito Sans"/>
              </a:rPr>
              <a:t>55k</a:t>
            </a:r>
          </a:p>
        </p:txBody>
      </p:sp>
      <p:sp>
        <p:nvSpPr>
          <p:cNvPr id="9" name="Text 9"/>
          <p:cNvSpPr txBox="1"/>
          <p:nvPr/>
        </p:nvSpPr>
        <p:spPr>
          <a:xfrm>
            <a:off x="3474720" y="5925312"/>
            <a:ext cx="1737360" cy="411480"/>
          </a:xfrm>
          <a:prstGeom prst="rect">
            <a:avLst/>
          </a:prstGeom>
          <a:noFill/>
        </p:spPr>
        <p:txBody>
          <a:bodyPr wrap="square" lIns="45720" tIns="45720" rIns="45720" bIns="45720" anchor="t"/>
          <a:lstStyle/>
          <a:p>
            <a:pPr algn="ctr">
              <a:buNone/>
            </a:pPr>
            <a:r>
              <a:rPr lang="en-US" sz="1500" dirty="0">
                <a:solidFill>
                  <a:srgbClr val="6B6B6B"/>
                </a:solidFill>
                <a:latin typeface="Nunito Sans"/>
              </a:rPr>
              <a:t>Q2</a:t>
            </a:r>
          </a:p>
        </p:txBody>
      </p:sp>
      <p:sp>
        <p:nvSpPr>
          <p:cNvPr id="10" name="Shape 10"/>
          <p:cNvSpPr/>
          <p:nvPr/>
        </p:nvSpPr>
        <p:spPr>
          <a:xfrm>
            <a:off x="6035040" y="3364992"/>
            <a:ext cx="1371600" cy="2487168"/>
          </a:xfrm>
          <a:prstGeom prst="roundRect">
            <a:avLst>
              <a:gd name="adj" fmla="val 8000"/>
            </a:avLst>
          </a:prstGeom>
          <a:solidFill>
            <a:srgbClr val="F9A26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11"/>
          <p:cNvSpPr txBox="1"/>
          <p:nvPr/>
        </p:nvSpPr>
        <p:spPr>
          <a:xfrm>
            <a:off x="5852159" y="2862072"/>
            <a:ext cx="1737360" cy="457200"/>
          </a:xfrm>
          <a:prstGeom prst="rect">
            <a:avLst/>
          </a:prstGeom>
          <a:noFill/>
        </p:spPr>
        <p:txBody>
          <a:bodyPr wrap="square" lIns="45720" tIns="45720" rIns="45720" bIns="45720" anchor="t"/>
          <a:lstStyle/>
          <a:p>
            <a:pPr algn="ctr">
              <a:buNone/>
            </a:pPr>
            <a:r>
              <a:rPr lang="en-US" sz="1600" b="1" dirty="0">
                <a:solidFill>
                  <a:srgbClr val="2B2B2B"/>
                </a:solidFill>
                <a:latin typeface="Nunito Sans"/>
              </a:rPr>
              <a:t>68k</a:t>
            </a:r>
          </a:p>
        </p:txBody>
      </p:sp>
      <p:sp>
        <p:nvSpPr>
          <p:cNvPr id="12" name="Text 12"/>
          <p:cNvSpPr txBox="1"/>
          <p:nvPr/>
        </p:nvSpPr>
        <p:spPr>
          <a:xfrm>
            <a:off x="5852159" y="5925312"/>
            <a:ext cx="1737360" cy="411480"/>
          </a:xfrm>
          <a:prstGeom prst="rect">
            <a:avLst/>
          </a:prstGeom>
          <a:noFill/>
        </p:spPr>
        <p:txBody>
          <a:bodyPr wrap="square" lIns="45720" tIns="45720" rIns="45720" bIns="45720" anchor="t"/>
          <a:lstStyle/>
          <a:p>
            <a:pPr algn="ctr">
              <a:buNone/>
            </a:pPr>
            <a:r>
              <a:rPr lang="en-US" sz="1500" dirty="0">
                <a:solidFill>
                  <a:srgbClr val="6B6B6B"/>
                </a:solidFill>
                <a:latin typeface="Nunito Sans"/>
              </a:rPr>
              <a:t>Q3</a:t>
            </a:r>
          </a:p>
        </p:txBody>
      </p:sp>
      <p:sp>
        <p:nvSpPr>
          <p:cNvPr id="13" name="Shape 13"/>
          <p:cNvSpPr/>
          <p:nvPr/>
        </p:nvSpPr>
        <p:spPr>
          <a:xfrm>
            <a:off x="8412480" y="2706624"/>
            <a:ext cx="1371600" cy="3145536"/>
          </a:xfrm>
          <a:prstGeom prst="roundRect">
            <a:avLst>
              <a:gd name="adj" fmla="val 8000"/>
            </a:avLst>
          </a:prstGeom>
          <a:solidFill>
            <a:srgbClr val="E8505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4"/>
          <p:cNvSpPr txBox="1"/>
          <p:nvPr/>
        </p:nvSpPr>
        <p:spPr>
          <a:xfrm>
            <a:off x="8229600" y="2203704"/>
            <a:ext cx="1737360" cy="457200"/>
          </a:xfrm>
          <a:prstGeom prst="rect">
            <a:avLst/>
          </a:prstGeom>
          <a:noFill/>
        </p:spPr>
        <p:txBody>
          <a:bodyPr wrap="square" lIns="45720" tIns="45720" rIns="45720" bIns="45720" anchor="t"/>
          <a:lstStyle/>
          <a:p>
            <a:pPr algn="ctr">
              <a:buNone/>
            </a:pPr>
            <a:r>
              <a:rPr lang="en-US" sz="1600" b="1" dirty="0">
                <a:solidFill>
                  <a:srgbClr val="2B2B2B"/>
                </a:solidFill>
                <a:latin typeface="Nunito Sans"/>
              </a:rPr>
              <a:t>86k</a:t>
            </a:r>
          </a:p>
        </p:txBody>
      </p:sp>
      <p:sp>
        <p:nvSpPr>
          <p:cNvPr id="15" name="Text 15"/>
          <p:cNvSpPr txBox="1"/>
          <p:nvPr/>
        </p:nvSpPr>
        <p:spPr>
          <a:xfrm>
            <a:off x="8229600" y="5925312"/>
            <a:ext cx="1737360" cy="411480"/>
          </a:xfrm>
          <a:prstGeom prst="rect">
            <a:avLst/>
          </a:prstGeom>
          <a:noFill/>
        </p:spPr>
        <p:txBody>
          <a:bodyPr wrap="square" lIns="45720" tIns="45720" rIns="45720" bIns="45720" anchor="t"/>
          <a:lstStyle/>
          <a:p>
            <a:pPr algn="ctr">
              <a:buNone/>
            </a:pPr>
            <a:r>
              <a:rPr lang="en-US" sz="1500" dirty="0">
                <a:solidFill>
                  <a:srgbClr val="6B6B6B"/>
                </a:solidFill>
                <a:latin typeface="Nunito Sans"/>
              </a:rPr>
              <a:t>Q4</a:t>
            </a:r>
          </a:p>
        </p:txBody>
      </p:sp>
      <p:sp>
        <p:nvSpPr>
          <p:cNvPr id="16" name="Shape 16"/>
          <p:cNvSpPr/>
          <p:nvPr/>
        </p:nvSpPr>
        <p:spPr>
          <a:xfrm>
            <a:off x="1005840" y="5852160"/>
            <a:ext cx="9692640" cy="27432"/>
          </a:xfrm>
          <a:prstGeom prst="rect">
            <a:avLst/>
          </a:prstGeom>
          <a:solidFill>
            <a:srgbClr val="6B6B6B">
              <a:alpha val="5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822960" y="640080"/>
            <a:ext cx="5486400" cy="365760"/>
          </a:xfrm>
          <a:prstGeom prst="rect">
            <a:avLst/>
          </a:prstGeom>
          <a:noFill/>
        </p:spPr>
        <p:txBody>
          <a:bodyPr wrap="square" lIns="45720" tIns="45720" rIns="45720" bIns="45720" anchor="t"/>
          <a:lstStyle/>
          <a:p>
            <a:pPr algn="l">
              <a:buNone/>
            </a:pPr>
            <a:r>
              <a:rPr lang="en-US" sz="1200" b="1" spc="200" dirty="0">
                <a:solidFill>
                  <a:srgbClr val="E8505B"/>
                </a:solidFill>
                <a:latin typeface="Nunito Sans"/>
              </a:rPr>
              <a:t>PLAN</a:t>
            </a:r>
          </a:p>
        </p:txBody>
      </p:sp>
      <p:sp>
        <p:nvSpPr>
          <p:cNvPr id="3" name="Text 3"/>
          <p:cNvSpPr txBox="1"/>
          <p:nvPr/>
        </p:nvSpPr>
        <p:spPr>
          <a:xfrm>
            <a:off x="822960" y="960120"/>
            <a:ext cx="10058400" cy="914400"/>
          </a:xfrm>
          <a:prstGeom prst="rect">
            <a:avLst/>
          </a:prstGeom>
          <a:noFill/>
        </p:spPr>
        <p:txBody>
          <a:bodyPr wrap="square" lIns="45720" tIns="45720" rIns="45720" bIns="45720" anchor="t"/>
          <a:lstStyle/>
          <a:p>
            <a:pPr algn="l">
              <a:lnSpc>
                <a:spcPct val="95000"/>
              </a:lnSpc>
              <a:buNone/>
            </a:pPr>
            <a:r>
              <a:rPr lang="en-US" sz="3600" b="1" dirty="0">
                <a:solidFill>
                  <a:srgbClr val="2B2B2B"/>
                </a:solidFill>
                <a:latin typeface="Poppins"/>
              </a:rPr>
              <a:t>Timeline</a:t>
            </a:r>
          </a:p>
        </p:txBody>
      </p:sp>
      <p:sp>
        <p:nvSpPr>
          <p:cNvPr id="4" name="Shape 4"/>
          <p:cNvSpPr/>
          <p:nvPr/>
        </p:nvSpPr>
        <p:spPr>
          <a:xfrm>
            <a:off x="1097280" y="3291840"/>
            <a:ext cx="9966960" cy="54864"/>
          </a:xfrm>
          <a:prstGeom prst="rect">
            <a:avLst/>
          </a:prstGeom>
          <a:solidFill>
            <a:srgbClr val="6B6B6B">
              <a:alpha val="4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5"/>
          <p:cNvSpPr/>
          <p:nvPr/>
        </p:nvSpPr>
        <p:spPr>
          <a:xfrm>
            <a:off x="1097280" y="3090672"/>
            <a:ext cx="457200" cy="457200"/>
          </a:xfrm>
          <a:prstGeom prst="ellipse">
            <a:avLst/>
          </a:prstGeom>
          <a:solidFill>
            <a:srgbClr val="E8505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6"/>
          <p:cNvSpPr txBox="1"/>
          <p:nvPr/>
        </p:nvSpPr>
        <p:spPr>
          <a:xfrm>
            <a:off x="731519" y="2286000"/>
            <a:ext cx="2377440" cy="548640"/>
          </a:xfrm>
          <a:prstGeom prst="rect">
            <a:avLst/>
          </a:prstGeom>
          <a:noFill/>
        </p:spPr>
        <p:txBody>
          <a:bodyPr wrap="square" lIns="45720" tIns="45720" rIns="45720" bIns="45720" anchor="t"/>
          <a:lstStyle/>
          <a:p>
            <a:pPr algn="l">
              <a:buNone/>
            </a:pPr>
            <a:r>
              <a:rPr lang="en-US" sz="2000" b="1" dirty="0">
                <a:solidFill>
                  <a:srgbClr val="E8505B"/>
                </a:solidFill>
                <a:latin typeface="Poppins"/>
              </a:rPr>
              <a:t>Nov</a:t>
            </a:r>
          </a:p>
        </p:txBody>
      </p:sp>
      <p:sp>
        <p:nvSpPr>
          <p:cNvPr id="7" name="Text 7"/>
          <p:cNvSpPr txBox="1"/>
          <p:nvPr/>
        </p:nvSpPr>
        <p:spPr>
          <a:xfrm>
            <a:off x="731519" y="3794760"/>
            <a:ext cx="2560320" cy="1097280"/>
          </a:xfrm>
          <a:prstGeom prst="rect">
            <a:avLst/>
          </a:prstGeom>
          <a:noFill/>
        </p:spPr>
        <p:txBody>
          <a:bodyPr wrap="square" lIns="45720" tIns="45720" rIns="45720" bIns="45720" anchor="t"/>
          <a:lstStyle/>
          <a:p>
            <a:pPr algn="l">
              <a:lnSpc>
                <a:spcPct val="114999"/>
              </a:lnSpc>
              <a:buNone/>
            </a:pPr>
            <a:r>
              <a:rPr lang="en-US" sz="1800" dirty="0">
                <a:solidFill>
                  <a:srgbClr val="2B2B2B"/>
                </a:solidFill>
                <a:latin typeface="Nunito Sans"/>
              </a:rPr>
              <a:t>Agree terms</a:t>
            </a:r>
          </a:p>
        </p:txBody>
      </p:sp>
      <p:sp>
        <p:nvSpPr>
          <p:cNvPr id="8" name="Shape 8"/>
          <p:cNvSpPr/>
          <p:nvPr/>
        </p:nvSpPr>
        <p:spPr>
          <a:xfrm>
            <a:off x="4206240" y="3090672"/>
            <a:ext cx="457200" cy="457200"/>
          </a:xfrm>
          <a:prstGeom prst="ellipse">
            <a:avLst/>
          </a:prstGeom>
          <a:solidFill>
            <a:srgbClr val="E8505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9"/>
          <p:cNvSpPr txBox="1"/>
          <p:nvPr/>
        </p:nvSpPr>
        <p:spPr>
          <a:xfrm>
            <a:off x="3840479" y="2286000"/>
            <a:ext cx="2377440" cy="548640"/>
          </a:xfrm>
          <a:prstGeom prst="rect">
            <a:avLst/>
          </a:prstGeom>
          <a:noFill/>
        </p:spPr>
        <p:txBody>
          <a:bodyPr wrap="square" lIns="45720" tIns="45720" rIns="45720" bIns="45720" anchor="t"/>
          <a:lstStyle/>
          <a:p>
            <a:pPr algn="l">
              <a:buNone/>
            </a:pPr>
            <a:r>
              <a:rPr lang="en-US" sz="2000" b="1" dirty="0">
                <a:solidFill>
                  <a:srgbClr val="E8505B"/>
                </a:solidFill>
                <a:latin typeface="Poppins"/>
              </a:rPr>
              <a:t>Jan</a:t>
            </a:r>
          </a:p>
        </p:txBody>
      </p:sp>
      <p:sp>
        <p:nvSpPr>
          <p:cNvPr id="10" name="Text 10"/>
          <p:cNvSpPr txBox="1"/>
          <p:nvPr/>
        </p:nvSpPr>
        <p:spPr>
          <a:xfrm>
            <a:off x="3840479" y="3794760"/>
            <a:ext cx="2560320" cy="1097280"/>
          </a:xfrm>
          <a:prstGeom prst="rect">
            <a:avLst/>
          </a:prstGeom>
          <a:noFill/>
        </p:spPr>
        <p:txBody>
          <a:bodyPr wrap="square" lIns="45720" tIns="45720" rIns="45720" bIns="45720" anchor="t"/>
          <a:lstStyle/>
          <a:p>
            <a:pPr algn="l">
              <a:lnSpc>
                <a:spcPct val="114999"/>
              </a:lnSpc>
              <a:buNone/>
            </a:pPr>
            <a:r>
              <a:rPr lang="en-US" sz="1800" dirty="0">
                <a:solidFill>
                  <a:srgbClr val="2B2B2B"/>
                </a:solidFill>
                <a:latin typeface="Nunito Sans"/>
              </a:rPr>
              <a:t>Build</a:t>
            </a:r>
          </a:p>
        </p:txBody>
      </p:sp>
      <p:sp>
        <p:nvSpPr>
          <p:cNvPr id="11" name="Shape 11"/>
          <p:cNvSpPr/>
          <p:nvPr/>
        </p:nvSpPr>
        <p:spPr>
          <a:xfrm>
            <a:off x="7315200" y="3090672"/>
            <a:ext cx="457200" cy="457200"/>
          </a:xfrm>
          <a:prstGeom prst="ellipse">
            <a:avLst/>
          </a:prstGeom>
          <a:solidFill>
            <a:srgbClr val="E8505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2"/>
          <p:cNvSpPr txBox="1"/>
          <p:nvPr/>
        </p:nvSpPr>
        <p:spPr>
          <a:xfrm>
            <a:off x="6949440" y="2286000"/>
            <a:ext cx="2377440" cy="548640"/>
          </a:xfrm>
          <a:prstGeom prst="rect">
            <a:avLst/>
          </a:prstGeom>
          <a:noFill/>
        </p:spPr>
        <p:txBody>
          <a:bodyPr wrap="square" lIns="45720" tIns="45720" rIns="45720" bIns="45720" anchor="t"/>
          <a:lstStyle/>
          <a:p>
            <a:pPr algn="l">
              <a:buNone/>
            </a:pPr>
            <a:r>
              <a:rPr lang="en-US" sz="2000" b="1" dirty="0">
                <a:solidFill>
                  <a:srgbClr val="E8505B"/>
                </a:solidFill>
                <a:latin typeface="Poppins"/>
              </a:rPr>
              <a:t>Apr</a:t>
            </a:r>
          </a:p>
        </p:txBody>
      </p:sp>
      <p:sp>
        <p:nvSpPr>
          <p:cNvPr id="13" name="Text 13"/>
          <p:cNvSpPr txBox="1"/>
          <p:nvPr/>
        </p:nvSpPr>
        <p:spPr>
          <a:xfrm>
            <a:off x="6949440" y="3794760"/>
            <a:ext cx="2560320" cy="1097280"/>
          </a:xfrm>
          <a:prstGeom prst="rect">
            <a:avLst/>
          </a:prstGeom>
          <a:noFill/>
        </p:spPr>
        <p:txBody>
          <a:bodyPr wrap="square" lIns="45720" tIns="45720" rIns="45720" bIns="45720" anchor="t"/>
          <a:lstStyle/>
          <a:p>
            <a:pPr algn="l">
              <a:lnSpc>
                <a:spcPct val="114999"/>
              </a:lnSpc>
              <a:buNone/>
            </a:pPr>
            <a:r>
              <a:rPr lang="en-US" sz="1800" dirty="0">
                <a:solidFill>
                  <a:srgbClr val="2B2B2B"/>
                </a:solidFill>
                <a:latin typeface="Nunito Sans"/>
              </a:rPr>
              <a:t>Launch</a:t>
            </a:r>
          </a:p>
        </p:txBody>
      </p:sp>
      <p:sp>
        <p:nvSpPr>
          <p:cNvPr id="14" name="Shape 14"/>
          <p:cNvSpPr/>
          <p:nvPr/>
        </p:nvSpPr>
        <p:spPr>
          <a:xfrm>
            <a:off x="10424159" y="3090672"/>
            <a:ext cx="457200" cy="457200"/>
          </a:xfrm>
          <a:prstGeom prst="ellipse">
            <a:avLst/>
          </a:prstGeom>
          <a:solidFill>
            <a:srgbClr val="E8505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5"/>
          <p:cNvSpPr txBox="1"/>
          <p:nvPr/>
        </p:nvSpPr>
        <p:spPr>
          <a:xfrm>
            <a:off x="10058399" y="2286000"/>
            <a:ext cx="2377440" cy="548640"/>
          </a:xfrm>
          <a:prstGeom prst="rect">
            <a:avLst/>
          </a:prstGeom>
          <a:noFill/>
        </p:spPr>
        <p:txBody>
          <a:bodyPr wrap="square" lIns="45720" tIns="45720" rIns="45720" bIns="45720" anchor="t"/>
          <a:lstStyle/>
          <a:p>
            <a:pPr algn="l">
              <a:buNone/>
            </a:pPr>
            <a:r>
              <a:rPr lang="en-US" sz="2000" b="1" dirty="0">
                <a:solidFill>
                  <a:srgbClr val="E8505B"/>
                </a:solidFill>
                <a:latin typeface="Poppins"/>
              </a:rPr>
              <a:t>Sep</a:t>
            </a:r>
          </a:p>
        </p:txBody>
      </p:sp>
      <p:sp>
        <p:nvSpPr>
          <p:cNvPr id="16" name="Text 16"/>
          <p:cNvSpPr txBox="1"/>
          <p:nvPr/>
        </p:nvSpPr>
        <p:spPr>
          <a:xfrm>
            <a:off x="10058399" y="3794760"/>
            <a:ext cx="2560320" cy="1097280"/>
          </a:xfrm>
          <a:prstGeom prst="rect">
            <a:avLst/>
          </a:prstGeom>
          <a:noFill/>
        </p:spPr>
        <p:txBody>
          <a:bodyPr wrap="square" lIns="45720" tIns="45720" rIns="45720" bIns="45720" anchor="t"/>
          <a:lstStyle/>
          <a:p>
            <a:pPr algn="l">
              <a:lnSpc>
                <a:spcPct val="114999"/>
              </a:lnSpc>
              <a:buNone/>
            </a:pPr>
            <a:r>
              <a:rPr lang="en-US" sz="1800" dirty="0">
                <a:solidFill>
                  <a:srgbClr val="2B2B2B"/>
                </a:solidFill>
                <a:latin typeface="Nunito Sans"/>
              </a:rPr>
              <a:t>Review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E8505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3"/>
          <p:cNvSpPr txBox="1"/>
          <p:nvPr/>
        </p:nvSpPr>
        <p:spPr>
          <a:xfrm>
            <a:off x="822960" y="2103120"/>
            <a:ext cx="10515600" cy="1463040"/>
          </a:xfrm>
          <a:prstGeom prst="rect">
            <a:avLst/>
          </a:prstGeom>
          <a:noFill/>
        </p:spPr>
        <p:txBody>
          <a:bodyPr wrap="square" lIns="45720" tIns="45720" rIns="45720" bIns="45720" anchor="t"/>
          <a:lstStyle/>
          <a:p>
            <a:pPr algn="ctr">
              <a:lnSpc>
                <a:spcPct val="95000"/>
              </a:lnSpc>
              <a:buNone/>
            </a:pPr>
            <a:r>
              <a:rPr lang="en-US" sz="6400" b="1" dirty="0">
                <a:solidFill>
                  <a:srgbClr val="2B2B2B"/>
                </a:solidFill>
                <a:latin typeface="Poppins"/>
              </a:rPr>
              <a:t>Thank you</a:t>
            </a:r>
          </a:p>
        </p:txBody>
      </p:sp>
      <p:sp>
        <p:nvSpPr>
          <p:cNvPr id="4" name="Text 4"/>
          <p:cNvSpPr txBox="1"/>
          <p:nvPr/>
        </p:nvSpPr>
        <p:spPr>
          <a:xfrm>
            <a:off x="822960" y="3520440"/>
            <a:ext cx="10515600" cy="731520"/>
          </a:xfrm>
          <a:prstGeom prst="rect">
            <a:avLst/>
          </a:prstGeom>
          <a:noFill/>
        </p:spPr>
        <p:txBody>
          <a:bodyPr wrap="square" lIns="45720" tIns="45720" rIns="45720" bIns="45720" anchor="t"/>
          <a:lstStyle/>
          <a:p>
            <a:pPr algn="ctr">
              <a:lnSpc>
                <a:spcPct val="114999"/>
              </a:lnSpc>
              <a:buNone/>
            </a:pPr>
            <a:r>
              <a:rPr lang="en-US" sz="2200" dirty="0">
                <a:solidFill>
                  <a:srgbClr val="6B6B6B"/>
                </a:solidFill>
                <a:latin typeface="Nunito Sans"/>
              </a:rPr>
              <a:t>Questions? hello@example.com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oral workshop">
  <a:themeElements>
    <a:clrScheme name="Coral workshop">
      <a:dk1>
        <a:srgbClr val="111827"/>
      </a:dk1>
      <a:lt1>
        <a:srgbClr val="FFFFFF"/>
      </a:lt1>
      <a:dk2>
        <a:srgbClr val="1F2937"/>
      </a:dk2>
      <a:lt2>
        <a:srgbClr val="FFE4D6"/>
      </a:lt2>
      <a:accent1>
        <a:srgbClr val="E8505B"/>
      </a:accent1>
      <a:accent2>
        <a:srgbClr val="F9A26C"/>
      </a:accent2>
      <a:accent3>
        <a:srgbClr val="6B6B6B"/>
      </a:accent3>
      <a:accent4>
        <a:srgbClr val="10B981"/>
      </a:accent4>
      <a:accent5>
        <a:srgbClr val="8B5CF6"/>
      </a:accent5>
      <a:accent6>
        <a:srgbClr val="EF4444"/>
      </a:accent6>
      <a:hlink>
        <a:srgbClr val="E8505B"/>
      </a:hlink>
      <a:folHlink>
        <a:srgbClr val="F9A26C"/>
      </a:folHlink>
    </a:clrScheme>
    <a:fontScheme name="Coral workshop">
      <a:majorFont>
        <a:latin typeface="Poppins"/>
        <a:ea typeface=""/>
        <a:cs typeface=""/>
      </a:majorFont>
      <a:minorFont>
        <a:latin typeface="Nunito Sans"/>
        <a:ea typeface=""/>
        <a:cs typeface=""/>
      </a:minorFont>
    </a:fontScheme>
    <a:fmtScheme name="Craft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chemeClr val="phClr"/>
          </a:solidFill>
        </a:ln>
        <a:ln w="9525">
          <a:solidFill>
            <a:schemeClr val="phClr"/>
          </a:solidFill>
        </a:ln>
        <a:ln w="9525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>
  <Application>Craft Suite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Coral workshop</dc:title>
  <dc:subject/>
  <dc:creator>Craft Suite</dc:creator>
  <cp:keywords>template</cp:keywords>
  <dcterms:created xsi:type="dcterms:W3CDTF">2026-01-01T00:00:00Z</dcterms:created>
</cp:coreProperties>
</file>